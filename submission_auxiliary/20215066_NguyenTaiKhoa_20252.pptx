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7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111" d="100"/>
          <a:sy n="111" d="100"/>
        </p:scale>
        <p:origin x="5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7/11/2026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7/11/2026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006"/>
            <a:ext cx="27432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pPr/>
              <a:t>7/11/2026</a:t>
            </a:fld>
            <a:endParaRPr lang="en-US" dirty="0"/>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407957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7/11/2026</a:t>
            </a:fld>
            <a:endParaRPr lang="en-US" dirty="0"/>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1329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7/11/2026</a:t>
            </a:fld>
            <a:endParaRPr lang="en-US" dirty="0"/>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3887669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7/11/2026</a:t>
            </a:fld>
            <a:endParaRPr lang="en-US" dirty="0"/>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95812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8A78F82-82C6-4F07-B7D8-4A1219A1BB4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pPr/>
              <a:t>7/11/2026</a:t>
            </a:fld>
            <a:endParaRPr lang="en-US"/>
          </a:p>
        </p:txBody>
      </p:sp>
      <p:sp>
        <p:nvSpPr>
          <p:cNvPr id="8" name="Footer Placeholder 4">
            <a:extLst>
              <a:ext uri="{FF2B5EF4-FFF2-40B4-BE49-F238E27FC236}">
                <a16:creationId xmlns:a16="http://schemas.microsoft.com/office/drawing/2014/main" id="{12041C72-5CA2-4523-9F1E-50662A3276CE}"/>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3AD6B24F-6759-4931-A1C4-77BA8AF7E085}"/>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8">
            <a:extLst>
              <a:ext uri="{FF2B5EF4-FFF2-40B4-BE49-F238E27FC236}">
                <a16:creationId xmlns:a16="http://schemas.microsoft.com/office/drawing/2014/main" id="{1CD850F7-B0EC-49AD-960D-051EAF5F36DD}"/>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a:t>
            </a:r>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Table</a:t>
            </a:r>
          </a:p>
        </p:txBody>
      </p:sp>
    </p:spTree>
    <p:extLst>
      <p:ext uri="{BB962C8B-B14F-4D97-AF65-F5344CB8AC3E}">
        <p14:creationId xmlns:p14="http://schemas.microsoft.com/office/powerpoint/2010/main" val="3242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pPr/>
              <a:t>7/11/2026</a:t>
            </a:fld>
            <a:endParaRPr lang="en-US"/>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a:t>
            </a:r>
          </a:p>
        </p:txBody>
      </p:sp>
    </p:spTree>
    <p:extLst>
      <p:ext uri="{BB962C8B-B14F-4D97-AF65-F5344CB8AC3E}">
        <p14:creationId xmlns:p14="http://schemas.microsoft.com/office/powerpoint/2010/main" val="4113439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7/11/2026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79133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7/11/2026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96058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7/11/2026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750032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7/11/2026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122620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pPr/>
              <a:t>7/11/2026</a:t>
            </a:fld>
            <a:endParaRPr lang="en-US"/>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492875"/>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014881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033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4C167836-5AFF-4757-AB55-39FD3BBF9D47}"/>
              </a:ext>
            </a:extLst>
          </p:cNvPr>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2981520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38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4" r:id="rId6"/>
    <p:sldLayoutId id="2147483660" r:id="rId7"/>
    <p:sldLayoutId id="2147483659" r:id="rId8"/>
    <p:sldLayoutId id="2147483658" r:id="rId9"/>
    <p:sldLayoutId id="2147483661" r:id="rId10"/>
    <p:sldLayoutId id="2147483656" r:id="rId11"/>
    <p:sldLayoutId id="2147483657" r:id="rId12"/>
    <p:sldLayoutId id="2147483649"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navy.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_white.png"/>
          <p:cNvPicPr>
            <a:picLocks noChangeAspect="1"/>
          </p:cNvPicPr>
          <p:nvPr/>
        </p:nvPicPr>
        <p:blipFill>
          <a:blip r:embed="rId3"/>
          <a:stretch>
            <a:fillRect/>
          </a:stretch>
        </p:blipFill>
        <p:spPr>
          <a:xfrm>
            <a:off x="4453128" y="566928"/>
            <a:ext cx="3291840" cy="1293223"/>
          </a:xfrm>
          <a:prstGeom prst="rect">
            <a:avLst/>
          </a:prstGeom>
        </p:spPr>
      </p:pic>
      <p:cxnSp>
        <p:nvCxnSpPr>
          <p:cNvPr id="4" name="Connector 3"/>
          <p:cNvCxnSpPr/>
          <p:nvPr/>
        </p:nvCxnSpPr>
        <p:spPr>
          <a:xfrm>
            <a:off x="4818888" y="1783080"/>
            <a:ext cx="2560320" cy="0"/>
          </a:xfrm>
          <a:prstGeom prst="bentConnector3">
            <a:avLst/>
          </a:prstGeom>
          <a:ln w="31750">
            <a:solidFill>
              <a:srgbClr val="C0203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14400" y="2057400"/>
            <a:ext cx="10360152" cy="365760"/>
          </a:xfrm>
          <a:prstGeom prst="rect">
            <a:avLst/>
          </a:prstGeom>
          <a:noFill/>
        </p:spPr>
        <p:txBody>
          <a:bodyPr wrap="square" lIns="0" tIns="0" rIns="0" bIns="0" anchor="t">
            <a:spAutoFit/>
          </a:bodyPr>
          <a:lstStyle/>
          <a:p>
            <a:pPr algn="ctr"/>
            <a:r>
              <a:rPr sz="1400" b="1" i="0">
                <a:solidFill>
                  <a:srgbClr val="E6AAAF"/>
                </a:solidFill>
                <a:latin typeface="Segoe UI Semibold"/>
              </a:rPr>
              <a:t>ĐỒ ÁN TỐT NGHIỆP  ·  CHƯƠNG TRÌNH CÔNG NGHỆ THÔNG TIN VIỆT – NHẬT</a:t>
            </a:r>
          </a:p>
        </p:txBody>
      </p:sp>
      <p:sp>
        <p:nvSpPr>
          <p:cNvPr id="6" name="TextBox 5"/>
          <p:cNvSpPr txBox="1"/>
          <p:nvPr/>
        </p:nvSpPr>
        <p:spPr>
          <a:xfrm>
            <a:off x="914400" y="2514600"/>
            <a:ext cx="10360152" cy="1554480"/>
          </a:xfrm>
          <a:prstGeom prst="rect">
            <a:avLst/>
          </a:prstGeom>
          <a:noFill/>
        </p:spPr>
        <p:txBody>
          <a:bodyPr wrap="square" lIns="0" tIns="0" rIns="0" bIns="0" anchor="ctr">
            <a:spAutoFit/>
          </a:bodyPr>
          <a:lstStyle/>
          <a:p>
            <a:pPr algn="ctr"/>
            <a:r>
              <a:rPr sz="3300" b="1" i="0">
                <a:solidFill>
                  <a:srgbClr val="FFFFFF"/>
                </a:solidFill>
                <a:latin typeface="Segoe UI Semibold"/>
              </a:rPr>
              <a:t>Ước tính nồng độ bụi mịn PM2.5 mặt đất từ dữ liệu vệ tinh và khí tượng sử dụng học máy</a:t>
            </a:r>
          </a:p>
        </p:txBody>
      </p:sp>
      <p:sp>
        <p:nvSpPr>
          <p:cNvPr id="7" name="Rounded Rectangle 6"/>
          <p:cNvSpPr/>
          <p:nvPr/>
        </p:nvSpPr>
        <p:spPr>
          <a:xfrm>
            <a:off x="2889504" y="4617720"/>
            <a:ext cx="6400800" cy="1481328"/>
          </a:xfrm>
          <a:prstGeom prst="roundRect">
            <a:avLst>
              <a:gd name="adj" fmla="val 10000"/>
            </a:avLst>
          </a:prstGeom>
          <a:solidFill>
            <a:srgbClr val="002852"/>
          </a:solidFill>
          <a:ln w="15875">
            <a:solidFill>
              <a:srgbClr val="C02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0" y="4736592"/>
            <a:ext cx="5852160" cy="1280160"/>
          </a:xfrm>
          <a:prstGeom prst="rect">
            <a:avLst/>
          </a:prstGeom>
          <a:noFill/>
        </p:spPr>
        <p:txBody>
          <a:bodyPr wrap="square" lIns="0" tIns="0" rIns="0" bIns="0" anchor="ctr">
            <a:spAutoFit/>
          </a:bodyPr>
          <a:lstStyle/>
          <a:p>
            <a:pPr algn="ctr">
              <a:lnSpc>
                <a:spcPct val="100000"/>
              </a:lnSpc>
              <a:spcAft>
                <a:spcPts val="700"/>
              </a:spcAft>
            </a:pPr>
            <a:r>
              <a:rPr sz="1500" b="0" i="0">
                <a:solidFill>
                  <a:srgbClr val="B4CDE6"/>
                </a:solidFill>
                <a:latin typeface="Segoe UI"/>
              </a:rPr>
              <a:t>Sinh viên thực hiện:  </a:t>
            </a:r>
            <a:r>
              <a:rPr sz="1500" b="1" i="0">
                <a:solidFill>
                  <a:srgbClr val="FFFFFF"/>
                </a:solidFill>
                <a:latin typeface="Segoe UI"/>
              </a:rPr>
              <a:t>Nguyễn Tài Khoa</a:t>
            </a:r>
            <a:r>
              <a:rPr sz="1500" b="0" i="0">
                <a:solidFill>
                  <a:srgbClr val="B4CDE6"/>
                </a:solidFill>
                <a:latin typeface="Segoe UI"/>
              </a:rPr>
              <a:t>   —   MSSV 20215066</a:t>
            </a:r>
          </a:p>
          <a:p>
            <a:pPr algn="ctr">
              <a:lnSpc>
                <a:spcPct val="100000"/>
              </a:lnSpc>
              <a:spcAft>
                <a:spcPts val="700"/>
              </a:spcAft>
            </a:pPr>
            <a:r>
              <a:rPr sz="1500" b="0" i="0">
                <a:solidFill>
                  <a:srgbClr val="B4CDE6"/>
                </a:solidFill>
                <a:latin typeface="Segoe UI"/>
              </a:rPr>
              <a:t>Giảng viên hướng dẫn:  </a:t>
            </a:r>
            <a:r>
              <a:rPr sz="1500" b="1" i="0">
                <a:solidFill>
                  <a:srgbClr val="FFFFFF"/>
                </a:solidFill>
                <a:latin typeface="Segoe UI"/>
              </a:rPr>
              <a:t>TS. Trần Nguyên Ngọc</a:t>
            </a:r>
          </a:p>
          <a:p>
            <a:pPr algn="ctr">
              <a:lnSpc>
                <a:spcPct val="100000"/>
              </a:lnSpc>
            </a:pPr>
            <a:r>
              <a:rPr sz="1300" b="0" i="0">
                <a:solidFill>
                  <a:srgbClr val="B4CDE6"/>
                </a:solidFill>
                <a:latin typeface="Segoe UI"/>
              </a:rPr>
              <a:t>Trường Công nghệ Thông tin và Truyền thông  ·  Hà Nội, 7/2026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5A5F69"/>
                </a:solidFill>
                <a:latin typeface="Segoe UI"/>
              </a:rPr>
              <a:t>2</a:t>
            </a:r>
          </a:p>
        </p:txBody>
      </p:sp>
      <p:sp>
        <p:nvSpPr>
          <p:cNvPr id="4" name="TextBox 3"/>
          <p:cNvSpPr txBox="1"/>
          <p:nvPr/>
        </p:nvSpPr>
        <p:spPr>
          <a:xfrm>
            <a:off x="566928" y="91440"/>
            <a:ext cx="11064240" cy="658368"/>
          </a:xfrm>
          <a:prstGeom prst="rect">
            <a:avLst/>
          </a:prstGeom>
          <a:noFill/>
        </p:spPr>
        <p:txBody>
          <a:bodyPr wrap="square" lIns="0" tIns="0" rIns="0" bIns="0" anchor="ctr">
            <a:spAutoFit/>
          </a:bodyPr>
          <a:lstStyle/>
          <a:p>
            <a:pPr algn="l"/>
            <a:r>
              <a:rPr sz="2500" b="1" i="0">
                <a:solidFill>
                  <a:srgbClr val="FFFFFF"/>
                </a:solidFill>
                <a:latin typeface="Segoe UI Semibold"/>
              </a:rPr>
              <a:t>Nội dung trình bày</a:t>
            </a:r>
          </a:p>
        </p:txBody>
      </p:sp>
      <p:sp>
        <p:nvSpPr>
          <p:cNvPr id="5" name="Oval 4"/>
          <p:cNvSpPr/>
          <p:nvPr/>
        </p:nvSpPr>
        <p:spPr>
          <a:xfrm>
            <a:off x="731520" y="1188720"/>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600" b="1" i="0">
                <a:solidFill>
                  <a:srgbClr val="FFFFFF"/>
                </a:solidFill>
                <a:latin typeface="Segoe UI Semibold"/>
              </a:rPr>
              <a:t>1</a:t>
            </a:r>
          </a:p>
        </p:txBody>
      </p:sp>
      <p:sp>
        <p:nvSpPr>
          <p:cNvPr id="6" name="TextBox 5"/>
          <p:cNvSpPr txBox="1"/>
          <p:nvPr/>
        </p:nvSpPr>
        <p:spPr>
          <a:xfrm>
            <a:off x="1417320" y="1170432"/>
            <a:ext cx="10058400" cy="512064"/>
          </a:xfrm>
          <a:prstGeom prst="rect">
            <a:avLst/>
          </a:prstGeom>
          <a:noFill/>
        </p:spPr>
        <p:txBody>
          <a:bodyPr wrap="square" lIns="0" tIns="0" rIns="0" bIns="0" anchor="ctr">
            <a:spAutoFit/>
          </a:bodyPr>
          <a:lstStyle/>
          <a:p>
            <a:pPr algn="l">
              <a:lnSpc>
                <a:spcPct val="100000"/>
              </a:lnSpc>
              <a:spcAft>
                <a:spcPts val="0"/>
              </a:spcAft>
            </a:pPr>
            <a:r>
              <a:rPr sz="1800" b="1" i="0">
                <a:solidFill>
                  <a:srgbClr val="1C2634"/>
                </a:solidFill>
                <a:latin typeface="Segoe UI Semibold"/>
              </a:rPr>
              <a:t>Đặt vấn đề và mục tiêu</a:t>
            </a:r>
          </a:p>
          <a:p>
            <a:pPr algn="l">
              <a:lnSpc>
                <a:spcPct val="100000"/>
              </a:lnSpc>
            </a:pPr>
            <a:r>
              <a:rPr sz="1250" b="0" i="0">
                <a:solidFill>
                  <a:srgbClr val="5A5F69"/>
                </a:solidFill>
                <a:latin typeface="Segoe UI"/>
              </a:rPr>
              <a:t>Bối cảnh, thách thức và mục tiêu nghiên cứu</a:t>
            </a:r>
          </a:p>
        </p:txBody>
      </p:sp>
      <p:sp>
        <p:nvSpPr>
          <p:cNvPr id="7" name="Oval 6"/>
          <p:cNvSpPr/>
          <p:nvPr/>
        </p:nvSpPr>
        <p:spPr>
          <a:xfrm>
            <a:off x="731520" y="1865376"/>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600" b="1" i="0">
                <a:solidFill>
                  <a:srgbClr val="FFFFFF"/>
                </a:solidFill>
                <a:latin typeface="Segoe UI Semibold"/>
              </a:rPr>
              <a:t>2</a:t>
            </a:r>
          </a:p>
        </p:txBody>
      </p:sp>
      <p:sp>
        <p:nvSpPr>
          <p:cNvPr id="8" name="TextBox 7"/>
          <p:cNvSpPr txBox="1"/>
          <p:nvPr/>
        </p:nvSpPr>
        <p:spPr>
          <a:xfrm>
            <a:off x="1417320" y="1847088"/>
            <a:ext cx="10058400" cy="512064"/>
          </a:xfrm>
          <a:prstGeom prst="rect">
            <a:avLst/>
          </a:prstGeom>
          <a:noFill/>
        </p:spPr>
        <p:txBody>
          <a:bodyPr wrap="square" lIns="0" tIns="0" rIns="0" bIns="0" anchor="ctr">
            <a:spAutoFit/>
          </a:bodyPr>
          <a:lstStyle/>
          <a:p>
            <a:pPr algn="l">
              <a:lnSpc>
                <a:spcPct val="100000"/>
              </a:lnSpc>
              <a:spcAft>
                <a:spcPts val="0"/>
              </a:spcAft>
            </a:pPr>
            <a:r>
              <a:rPr sz="1800" b="1" i="0">
                <a:solidFill>
                  <a:srgbClr val="1C2634"/>
                </a:solidFill>
                <a:latin typeface="Segoe UI Semibold"/>
              </a:rPr>
              <a:t>Dữ liệu và phương pháp</a:t>
            </a:r>
          </a:p>
          <a:p>
            <a:pPr algn="l">
              <a:lnSpc>
                <a:spcPct val="100000"/>
              </a:lnSpc>
            </a:pPr>
            <a:r>
              <a:rPr sz="1250" b="0" i="0">
                <a:solidFill>
                  <a:srgbClr val="5A5F69"/>
                </a:solidFill>
                <a:latin typeface="Segoe UI"/>
              </a:rPr>
              <a:t>Bộ dữ liệu hợp nhất, QC, nhóm đặc trưng và RFSI</a:t>
            </a:r>
          </a:p>
        </p:txBody>
      </p:sp>
      <p:sp>
        <p:nvSpPr>
          <p:cNvPr id="9" name="Oval 8"/>
          <p:cNvSpPr/>
          <p:nvPr/>
        </p:nvSpPr>
        <p:spPr>
          <a:xfrm>
            <a:off x="731520" y="2542032"/>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600" b="1" i="0">
                <a:solidFill>
                  <a:srgbClr val="FFFFFF"/>
                </a:solidFill>
                <a:latin typeface="Segoe UI Semibold"/>
              </a:rPr>
              <a:t>3</a:t>
            </a:r>
          </a:p>
        </p:txBody>
      </p:sp>
      <p:sp>
        <p:nvSpPr>
          <p:cNvPr id="10" name="TextBox 9"/>
          <p:cNvSpPr txBox="1"/>
          <p:nvPr/>
        </p:nvSpPr>
        <p:spPr>
          <a:xfrm>
            <a:off x="1417320" y="2523744"/>
            <a:ext cx="10058400" cy="512064"/>
          </a:xfrm>
          <a:prstGeom prst="rect">
            <a:avLst/>
          </a:prstGeom>
          <a:noFill/>
        </p:spPr>
        <p:txBody>
          <a:bodyPr wrap="square" lIns="0" tIns="0" rIns="0" bIns="0" anchor="ctr">
            <a:spAutoFit/>
          </a:bodyPr>
          <a:lstStyle/>
          <a:p>
            <a:pPr algn="l">
              <a:lnSpc>
                <a:spcPct val="100000"/>
              </a:lnSpc>
              <a:spcAft>
                <a:spcPts val="0"/>
              </a:spcAft>
            </a:pPr>
            <a:r>
              <a:rPr sz="1800" b="1" i="0">
                <a:solidFill>
                  <a:srgbClr val="1C2634"/>
                </a:solidFill>
                <a:latin typeface="Segoe UI Semibold"/>
              </a:rPr>
              <a:t>Ba phương án đánh giá</a:t>
            </a:r>
          </a:p>
          <a:p>
            <a:pPr algn="l">
              <a:lnSpc>
                <a:spcPct val="100000"/>
              </a:lnSpc>
            </a:pPr>
            <a:r>
              <a:rPr sz="1250" b="0" i="0">
                <a:solidFill>
                  <a:srgbClr val="5A5F69"/>
                </a:solidFill>
                <a:latin typeface="Segoe UI"/>
              </a:rPr>
              <a:t>Chia theo mẫu (KFold) · bỏ một trạm ra (LOSO) · LCS + Đại sứ quán</a:t>
            </a:r>
          </a:p>
        </p:txBody>
      </p:sp>
      <p:sp>
        <p:nvSpPr>
          <p:cNvPr id="11" name="Oval 10"/>
          <p:cNvSpPr/>
          <p:nvPr/>
        </p:nvSpPr>
        <p:spPr>
          <a:xfrm>
            <a:off x="731520" y="3218687"/>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600" b="1" i="0">
                <a:solidFill>
                  <a:srgbClr val="FFFFFF"/>
                </a:solidFill>
                <a:latin typeface="Segoe UI Semibold"/>
              </a:rPr>
              <a:t>4</a:t>
            </a:r>
          </a:p>
        </p:txBody>
      </p:sp>
      <p:sp>
        <p:nvSpPr>
          <p:cNvPr id="12" name="TextBox 11"/>
          <p:cNvSpPr txBox="1"/>
          <p:nvPr/>
        </p:nvSpPr>
        <p:spPr>
          <a:xfrm>
            <a:off x="1417320" y="3200399"/>
            <a:ext cx="10058400" cy="512064"/>
          </a:xfrm>
          <a:prstGeom prst="rect">
            <a:avLst/>
          </a:prstGeom>
          <a:noFill/>
        </p:spPr>
        <p:txBody>
          <a:bodyPr wrap="square" lIns="0" tIns="0" rIns="0" bIns="0" anchor="ctr">
            <a:spAutoFit/>
          </a:bodyPr>
          <a:lstStyle/>
          <a:p>
            <a:pPr algn="l">
              <a:lnSpc>
                <a:spcPct val="100000"/>
              </a:lnSpc>
              <a:spcAft>
                <a:spcPts val="0"/>
              </a:spcAft>
            </a:pPr>
            <a:r>
              <a:rPr sz="1800" b="1" i="0">
                <a:solidFill>
                  <a:srgbClr val="1C2634"/>
                </a:solidFill>
                <a:latin typeface="Segoe UI Semibold"/>
              </a:rPr>
              <a:t>Ước tính toàn quốc</a:t>
            </a:r>
          </a:p>
          <a:p>
            <a:pPr algn="l">
              <a:lnSpc>
                <a:spcPct val="100000"/>
              </a:lnSpc>
            </a:pPr>
            <a:r>
              <a:rPr sz="1250" b="0" i="0">
                <a:solidFill>
                  <a:srgbClr val="5A5F69"/>
                </a:solidFill>
                <a:latin typeface="Segoe UI"/>
              </a:rPr>
              <a:t>Kết quả LOSO: dự đoán tại trạm chưa có trong huấn luyện còn khó</a:t>
            </a:r>
          </a:p>
        </p:txBody>
      </p:sp>
      <p:sp>
        <p:nvSpPr>
          <p:cNvPr id="13" name="Oval 12"/>
          <p:cNvSpPr/>
          <p:nvPr/>
        </p:nvSpPr>
        <p:spPr>
          <a:xfrm>
            <a:off x="731520" y="3895344"/>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600" b="1" i="0">
                <a:solidFill>
                  <a:srgbClr val="FFFFFF"/>
                </a:solidFill>
                <a:latin typeface="Segoe UI Semibold"/>
              </a:rPr>
              <a:t>5</a:t>
            </a:r>
          </a:p>
        </p:txBody>
      </p:sp>
      <p:sp>
        <p:nvSpPr>
          <p:cNvPr id="14" name="TextBox 13"/>
          <p:cNvSpPr txBox="1"/>
          <p:nvPr/>
        </p:nvSpPr>
        <p:spPr>
          <a:xfrm>
            <a:off x="1417320" y="3877056"/>
            <a:ext cx="10058400" cy="512064"/>
          </a:xfrm>
          <a:prstGeom prst="rect">
            <a:avLst/>
          </a:prstGeom>
          <a:noFill/>
        </p:spPr>
        <p:txBody>
          <a:bodyPr wrap="square" lIns="0" tIns="0" rIns="0" bIns="0" anchor="ctr">
            <a:spAutoFit/>
          </a:bodyPr>
          <a:lstStyle/>
          <a:p>
            <a:pPr algn="l">
              <a:lnSpc>
                <a:spcPct val="100000"/>
              </a:lnSpc>
              <a:spcAft>
                <a:spcPts val="0"/>
              </a:spcAft>
            </a:pPr>
            <a:r>
              <a:rPr sz="1800" b="1" i="0">
                <a:solidFill>
                  <a:srgbClr val="1C2634"/>
                </a:solidFill>
                <a:latin typeface="Segoe UI Semibold"/>
              </a:rPr>
              <a:t>Mô hình vùng đồng bằng sông Hồng</a:t>
            </a:r>
          </a:p>
          <a:p>
            <a:pPr algn="l">
              <a:lnSpc>
                <a:spcPct val="100000"/>
              </a:lnSpc>
            </a:pPr>
            <a:r>
              <a:rPr sz="1250" b="0" i="0">
                <a:solidFill>
                  <a:srgbClr val="5A5F69"/>
                </a:solidFill>
                <a:latin typeface="Segoe UI"/>
              </a:rPr>
              <a:t>Kết quả LOSO và vai trò các nhóm đặc trưng</a:t>
            </a:r>
          </a:p>
        </p:txBody>
      </p:sp>
      <p:sp>
        <p:nvSpPr>
          <p:cNvPr id="15" name="Oval 14"/>
          <p:cNvSpPr/>
          <p:nvPr/>
        </p:nvSpPr>
        <p:spPr>
          <a:xfrm>
            <a:off x="731520" y="4572000"/>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600" b="1" i="0">
                <a:solidFill>
                  <a:srgbClr val="FFFFFF"/>
                </a:solidFill>
                <a:latin typeface="Segoe UI Semibold"/>
              </a:rPr>
              <a:t>6</a:t>
            </a:r>
          </a:p>
        </p:txBody>
      </p:sp>
      <p:sp>
        <p:nvSpPr>
          <p:cNvPr id="16" name="TextBox 15"/>
          <p:cNvSpPr txBox="1"/>
          <p:nvPr/>
        </p:nvSpPr>
        <p:spPr>
          <a:xfrm>
            <a:off x="1417320" y="4553712"/>
            <a:ext cx="10058400" cy="512064"/>
          </a:xfrm>
          <a:prstGeom prst="rect">
            <a:avLst/>
          </a:prstGeom>
          <a:noFill/>
        </p:spPr>
        <p:txBody>
          <a:bodyPr wrap="square" lIns="0" tIns="0" rIns="0" bIns="0" anchor="ctr">
            <a:spAutoFit/>
          </a:bodyPr>
          <a:lstStyle/>
          <a:p>
            <a:pPr algn="l">
              <a:lnSpc>
                <a:spcPct val="100000"/>
              </a:lnSpc>
              <a:spcAft>
                <a:spcPts val="0"/>
              </a:spcAft>
            </a:pPr>
            <a:r>
              <a:rPr sz="1800" b="1" i="0">
                <a:solidFill>
                  <a:srgbClr val="1C2634"/>
                </a:solidFill>
                <a:latin typeface="Segoe UI Semibold"/>
              </a:rPr>
              <a:t>Đánh giá ngoài tập nghiên cứu, bản đồ và giới hạn</a:t>
            </a:r>
          </a:p>
          <a:p>
            <a:pPr algn="l">
              <a:lnSpc>
                <a:spcPct val="100000"/>
              </a:lnSpc>
            </a:pPr>
            <a:r>
              <a:rPr sz="1250" b="0" i="0">
                <a:solidFill>
                  <a:srgbClr val="5A5F69"/>
                </a:solidFill>
                <a:latin typeface="Segoe UI"/>
              </a:rPr>
              <a:t>Đại sứ quán, LCS, bản đồ PM2.5 toàn vùng và trường hợp sai số lớn</a:t>
            </a:r>
          </a:p>
        </p:txBody>
      </p:sp>
      <p:sp>
        <p:nvSpPr>
          <p:cNvPr id="17" name="Oval 16"/>
          <p:cNvSpPr/>
          <p:nvPr/>
        </p:nvSpPr>
        <p:spPr>
          <a:xfrm>
            <a:off x="731520" y="5248655"/>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600" b="1" i="0">
                <a:solidFill>
                  <a:srgbClr val="FFFFFF"/>
                </a:solidFill>
                <a:latin typeface="Segoe UI Semibold"/>
              </a:rPr>
              <a:t>7</a:t>
            </a:r>
          </a:p>
        </p:txBody>
      </p:sp>
      <p:sp>
        <p:nvSpPr>
          <p:cNvPr id="18" name="TextBox 17"/>
          <p:cNvSpPr txBox="1"/>
          <p:nvPr/>
        </p:nvSpPr>
        <p:spPr>
          <a:xfrm>
            <a:off x="1417320" y="5230367"/>
            <a:ext cx="10058400" cy="512064"/>
          </a:xfrm>
          <a:prstGeom prst="rect">
            <a:avLst/>
          </a:prstGeom>
          <a:noFill/>
        </p:spPr>
        <p:txBody>
          <a:bodyPr wrap="square" lIns="0" tIns="0" rIns="0" bIns="0" anchor="ctr">
            <a:spAutoFit/>
          </a:bodyPr>
          <a:lstStyle/>
          <a:p>
            <a:pPr algn="l">
              <a:lnSpc>
                <a:spcPct val="100000"/>
              </a:lnSpc>
              <a:spcAft>
                <a:spcPts val="0"/>
              </a:spcAft>
            </a:pPr>
            <a:r>
              <a:rPr sz="1800" b="1" i="0">
                <a:solidFill>
                  <a:srgbClr val="1C2634"/>
                </a:solidFill>
                <a:latin typeface="Segoe UI Semibold"/>
              </a:rPr>
              <a:t>Kết luận và hướng phát triển</a:t>
            </a:r>
          </a:p>
          <a:p>
            <a:pPr algn="l">
              <a:lnSpc>
                <a:spcPct val="100000"/>
              </a:lnSpc>
            </a:pPr>
            <a:r>
              <a:rPr sz="1250" b="0" i="0">
                <a:solidFill>
                  <a:srgbClr val="5A5F69"/>
                </a:solidFill>
                <a:latin typeface="Segoe UI"/>
              </a:rPr>
              <a:t>Đóng góp, giới hạn và bước tiếp theo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5A5F69"/>
                </a:solidFill>
                <a:latin typeface="Segoe UI"/>
              </a:rPr>
              <a:t>3</a:t>
            </a:r>
          </a:p>
        </p:txBody>
      </p:sp>
      <p:sp>
        <p:nvSpPr>
          <p:cNvPr id="4" name="TextBox 3"/>
          <p:cNvSpPr txBox="1"/>
          <p:nvPr/>
        </p:nvSpPr>
        <p:spPr>
          <a:xfrm>
            <a:off x="566928" y="91440"/>
            <a:ext cx="11064240" cy="658368"/>
          </a:xfrm>
          <a:prstGeom prst="rect">
            <a:avLst/>
          </a:prstGeom>
          <a:noFill/>
        </p:spPr>
        <p:txBody>
          <a:bodyPr wrap="square" lIns="0" tIns="0" rIns="0" bIns="0" anchor="ctr">
            <a:spAutoFit/>
          </a:bodyPr>
          <a:lstStyle/>
          <a:p>
            <a:pPr algn="l"/>
            <a:r>
              <a:rPr sz="2500" b="1" i="0">
                <a:solidFill>
                  <a:srgbClr val="FFFFFF"/>
                </a:solidFill>
                <a:latin typeface="Segoe UI Semibold"/>
              </a:rPr>
              <a:t>Bối cảnh: ô nhiễm không khí và nhu cầu ước lượng PM2.5</a:t>
            </a:r>
          </a:p>
        </p:txBody>
      </p:sp>
      <p:sp>
        <p:nvSpPr>
          <p:cNvPr id="5" name="TextBox 4"/>
          <p:cNvSpPr txBox="1"/>
          <p:nvPr/>
        </p:nvSpPr>
        <p:spPr>
          <a:xfrm>
            <a:off x="640080" y="1234440"/>
            <a:ext cx="6766560" cy="4480560"/>
          </a:xfrm>
          <a:prstGeom prst="rect">
            <a:avLst/>
          </a:prstGeom>
          <a:noFill/>
        </p:spPr>
        <p:txBody>
          <a:bodyPr wrap="square" lIns="0" tIns="0" rIns="0" bIns="0" anchor="t">
            <a:spAutoFit/>
          </a:bodyPr>
          <a:lstStyle/>
          <a:p>
            <a:pPr algn="l">
              <a:lnSpc>
                <a:spcPct val="105000"/>
              </a:lnSpc>
              <a:spcAft>
                <a:spcPts val="1100"/>
              </a:spcAft>
            </a:pPr>
            <a:r>
              <a:rPr sz="1650" b="1" i="0">
                <a:solidFill>
                  <a:srgbClr val="C02034"/>
                </a:solidFill>
                <a:latin typeface="Segoe UI"/>
              </a:rPr>
              <a:t>▪  </a:t>
            </a:r>
            <a:r>
              <a:rPr sz="1650" b="0" i="0">
                <a:solidFill>
                  <a:srgbClr val="1C2634"/>
                </a:solidFill>
                <a:latin typeface="Segoe UI"/>
              </a:rPr>
              <a:t>PM2.5 có thể đi sâu vào phổi và liên quan đến bệnh tim mạch, hô hấp cùng nguy cơ tử vong sớm (WHO).</a:t>
            </a:r>
          </a:p>
          <a:p>
            <a:pPr algn="l">
              <a:lnSpc>
                <a:spcPct val="105000"/>
              </a:lnSpc>
              <a:spcAft>
                <a:spcPts val="1100"/>
              </a:spcAft>
            </a:pPr>
            <a:r>
              <a:rPr sz="1650" b="1" i="0">
                <a:solidFill>
                  <a:srgbClr val="C02034"/>
                </a:solidFill>
                <a:latin typeface="Segoe UI"/>
              </a:rPr>
              <a:t>▪  </a:t>
            </a:r>
            <a:r>
              <a:rPr sz="1650" b="0" i="0">
                <a:solidFill>
                  <a:srgbClr val="1C2634"/>
                </a:solidFill>
                <a:latin typeface="Segoe UI"/>
              </a:rPr>
              <a:t>Hà Nội và nhiều đô thị miền Bắc thường có nồng độ PM2.5 cao; mùa đông lớp biên thấp và gió yếu làm bụi tích tụ.</a:t>
            </a:r>
          </a:p>
          <a:p>
            <a:pPr algn="l">
              <a:lnSpc>
                <a:spcPct val="105000"/>
              </a:lnSpc>
              <a:spcAft>
                <a:spcPts val="1100"/>
              </a:spcAft>
            </a:pPr>
            <a:r>
              <a:rPr sz="1650" b="1" i="0">
                <a:solidFill>
                  <a:srgbClr val="C02034"/>
                </a:solidFill>
                <a:latin typeface="Segoe UI"/>
              </a:rPr>
              <a:t>▪  </a:t>
            </a:r>
            <a:r>
              <a:rPr sz="1650" b="0" i="0">
                <a:solidFill>
                  <a:srgbClr val="1C2634"/>
                </a:solidFill>
                <a:latin typeface="Segoe UI"/>
              </a:rPr>
              <a:t>Quản lý chất lượng không khí cần thông tin theo không gian và thời gian; chỉ biết PM2.5 tại vài trạm là chưa đủ.</a:t>
            </a:r>
          </a:p>
          <a:p>
            <a:pPr algn="l">
              <a:lnSpc>
                <a:spcPct val="105000"/>
              </a:lnSpc>
              <a:spcAft>
                <a:spcPts val="1100"/>
              </a:spcAft>
            </a:pPr>
            <a:r>
              <a:rPr sz="1650" b="1" i="0">
                <a:solidFill>
                  <a:srgbClr val="C02034"/>
                </a:solidFill>
                <a:latin typeface="Segoe UI"/>
              </a:rPr>
              <a:t>▪  </a:t>
            </a:r>
            <a:r>
              <a:rPr sz="1650" b="0" i="0">
                <a:solidFill>
                  <a:srgbClr val="1C2634"/>
                </a:solidFill>
                <a:latin typeface="Segoe UI"/>
              </a:rPr>
              <a:t>Mạng trạm tự động còn thưa và phân bố không đều, nhiều nơi không có PM2.5 liên tục.</a:t>
            </a:r>
          </a:p>
          <a:p>
            <a:pPr algn="l">
              <a:lnSpc>
                <a:spcPct val="105000"/>
              </a:lnSpc>
              <a:spcAft>
                <a:spcPts val="1100"/>
              </a:spcAft>
            </a:pPr>
            <a:r>
              <a:rPr sz="1650" b="1" i="0">
                <a:solidFill>
                  <a:srgbClr val="C02034"/>
                </a:solidFill>
                <a:latin typeface="Segoe UI"/>
              </a:rPr>
              <a:t>▪  </a:t>
            </a:r>
            <a:r>
              <a:rPr sz="1650" b="1" i="0">
                <a:solidFill>
                  <a:srgbClr val="003366"/>
                </a:solidFill>
                <a:latin typeface="Segoe UI"/>
              </a:rPr>
              <a:t>⇒ Cần ước lượng PM2.5 tại các vị trí chưa có trạm.</a:t>
            </a:r>
          </a:p>
        </p:txBody>
      </p:sp>
      <p:sp>
        <p:nvSpPr>
          <p:cNvPr id="6" name="Rounded Rectangle 5"/>
          <p:cNvSpPr/>
          <p:nvPr/>
        </p:nvSpPr>
        <p:spPr>
          <a:xfrm>
            <a:off x="7680960" y="1371600"/>
            <a:ext cx="3931920" cy="4023360"/>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680960" y="1371600"/>
            <a:ext cx="82296" cy="4023360"/>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18704" y="1481328"/>
            <a:ext cx="3547872" cy="3822192"/>
          </a:xfrm>
          <a:prstGeom prst="rect">
            <a:avLst/>
          </a:prstGeom>
          <a:noFill/>
        </p:spPr>
        <p:txBody>
          <a:bodyPr wrap="square" lIns="0" tIns="0" rIns="0" bIns="0" anchor="ctr">
            <a:spAutoFit/>
          </a:bodyPr>
          <a:lstStyle/>
          <a:p>
            <a:pPr algn="l">
              <a:spcAft>
                <a:spcPts val="400"/>
              </a:spcAft>
            </a:pPr>
            <a:r>
              <a:rPr sz="1300" b="1" i="0">
                <a:solidFill>
                  <a:srgbClr val="003366"/>
                </a:solidFill>
                <a:latin typeface="Segoe UI Semibold"/>
              </a:rPr>
              <a:t>Vì sao cần viễn thám?</a:t>
            </a:r>
          </a:p>
          <a:p>
            <a:pPr algn="l">
              <a:lnSpc>
                <a:spcPct val="108000"/>
              </a:lnSpc>
            </a:pPr>
            <a:r>
              <a:rPr sz="1500" b="0" i="0">
                <a:solidFill>
                  <a:srgbClr val="1C2634"/>
                </a:solidFill>
                <a:latin typeface="Segoe UI"/>
              </a:rPr>
              <a:t>Vệ tinh cung cấp AOD, khí vết, nhiệt bề mặt, ánh sáng đêm, mưa; phủ toàn lãnh thổ, không phụ thuộc mạng trạm.
Kết hợp nguồn vệ tinh với khí tượng tái phân tích (gió, độ ẩm, lớp biên) và mạng trạm mặt đất là hướng khả thi để lập bản đồ PM2.5.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5A5F69"/>
                </a:solidFill>
                <a:latin typeface="Segoe UI"/>
              </a:rPr>
              <a:t>4</a:t>
            </a:r>
          </a:p>
        </p:txBody>
      </p:sp>
      <p:sp>
        <p:nvSpPr>
          <p:cNvPr id="4" name="TextBox 3"/>
          <p:cNvSpPr txBox="1"/>
          <p:nvPr/>
        </p:nvSpPr>
        <p:spPr>
          <a:xfrm>
            <a:off x="566928" y="91440"/>
            <a:ext cx="11064240" cy="658368"/>
          </a:xfrm>
          <a:prstGeom prst="rect">
            <a:avLst/>
          </a:prstGeom>
          <a:noFill/>
        </p:spPr>
        <p:txBody>
          <a:bodyPr wrap="square" lIns="0" tIns="0" rIns="0" bIns="0" anchor="ctr">
            <a:spAutoFit/>
          </a:bodyPr>
          <a:lstStyle/>
          <a:p>
            <a:pPr algn="l"/>
            <a:r>
              <a:rPr sz="2500" b="1" i="0">
                <a:solidFill>
                  <a:srgbClr val="FFFFFF"/>
                </a:solidFill>
                <a:latin typeface="Segoe UI Semibold"/>
              </a:rPr>
              <a:t>Thách thức của bài toán ước tính PM2.5</a:t>
            </a:r>
          </a:p>
        </p:txBody>
      </p:sp>
      <p:sp>
        <p:nvSpPr>
          <p:cNvPr id="5" name="TextBox 4"/>
          <p:cNvSpPr txBox="1"/>
          <p:nvPr/>
        </p:nvSpPr>
        <p:spPr>
          <a:xfrm>
            <a:off x="640080" y="1371600"/>
            <a:ext cx="6766560" cy="4297680"/>
          </a:xfrm>
          <a:prstGeom prst="rect">
            <a:avLst/>
          </a:prstGeom>
          <a:noFill/>
        </p:spPr>
        <p:txBody>
          <a:bodyPr wrap="square" lIns="0" tIns="0" rIns="0" bIns="0" anchor="t">
            <a:spAutoFit/>
          </a:bodyPr>
          <a:lstStyle/>
          <a:p>
            <a:pPr algn="l">
              <a:lnSpc>
                <a:spcPct val="105000"/>
              </a:lnSpc>
              <a:spcAft>
                <a:spcPts val="2000"/>
              </a:spcAft>
            </a:pPr>
            <a:r>
              <a:rPr sz="1700" b="1" i="0">
                <a:solidFill>
                  <a:srgbClr val="C02034"/>
                </a:solidFill>
                <a:latin typeface="Segoe UI"/>
              </a:rPr>
              <a:t>▪  </a:t>
            </a:r>
            <a:r>
              <a:rPr sz="1700" b="0" i="0">
                <a:solidFill>
                  <a:srgbClr val="1C2634"/>
                </a:solidFill>
                <a:latin typeface="Segoe UI"/>
              </a:rPr>
              <a:t>AOD đo tổng sol khí toàn cột khí quyển, không phải nồng độ sát mặt đất; quan hệ AOD–PM2.5 phụ thuộc lớp biên, độ ẩm và mùa.</a:t>
            </a:r>
          </a:p>
          <a:p>
            <a:pPr algn="l">
              <a:lnSpc>
                <a:spcPct val="105000"/>
              </a:lnSpc>
              <a:spcAft>
                <a:spcPts val="2000"/>
              </a:spcAft>
            </a:pPr>
            <a:r>
              <a:rPr sz="1700" b="1" i="0">
                <a:solidFill>
                  <a:srgbClr val="C02034"/>
                </a:solidFill>
                <a:latin typeface="Segoe UI"/>
              </a:rPr>
              <a:t>▪  </a:t>
            </a:r>
            <a:r>
              <a:rPr sz="1700" b="0" i="0">
                <a:solidFill>
                  <a:srgbClr val="1C2634"/>
                </a:solidFill>
                <a:latin typeface="Segoe UI"/>
              </a:rPr>
              <a:t>AOD theo giờ rất thưa do mây, điểm ảnh tại vị trí trạm chỉ có dữ liệu ~11% số giờ ⇒ cần kết hợp nhiều nguồn, không dựa vào vệ tinh đơn lẻ.</a:t>
            </a:r>
          </a:p>
          <a:p>
            <a:pPr algn="l">
              <a:lnSpc>
                <a:spcPct val="105000"/>
              </a:lnSpc>
              <a:spcAft>
                <a:spcPts val="2000"/>
              </a:spcAft>
            </a:pPr>
            <a:r>
              <a:rPr sz="1700" b="1" i="0">
                <a:solidFill>
                  <a:srgbClr val="C02034"/>
                </a:solidFill>
                <a:latin typeface="Segoe UI"/>
              </a:rPr>
              <a:t>▪  </a:t>
            </a:r>
            <a:r>
              <a:rPr sz="1700" b="1" i="0">
                <a:solidFill>
                  <a:srgbClr val="003366"/>
                </a:solidFill>
                <a:latin typeface="Segoe UI"/>
              </a:rPr>
              <a:t>Mỗi vị trí có mức nền ô nhiễm riêng, mô hình học tốt tại trạm đã biết vẫn có thể sai ở vị trí hoàn toàn mới.</a:t>
            </a:r>
          </a:p>
        </p:txBody>
      </p:sp>
      <p:sp>
        <p:nvSpPr>
          <p:cNvPr id="6" name="Rounded Rectangle 5"/>
          <p:cNvSpPr/>
          <p:nvPr/>
        </p:nvSpPr>
        <p:spPr>
          <a:xfrm>
            <a:off x="7680960" y="1371600"/>
            <a:ext cx="3931920" cy="2834640"/>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680960" y="1371600"/>
            <a:ext cx="82296" cy="2834640"/>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18704" y="1481328"/>
            <a:ext cx="3547872" cy="2633472"/>
          </a:xfrm>
          <a:prstGeom prst="rect">
            <a:avLst/>
          </a:prstGeom>
          <a:noFill/>
        </p:spPr>
        <p:txBody>
          <a:bodyPr wrap="square" lIns="0" tIns="0" rIns="0" bIns="0" anchor="ctr">
            <a:spAutoFit/>
          </a:bodyPr>
          <a:lstStyle/>
          <a:p>
            <a:pPr algn="l">
              <a:spcAft>
                <a:spcPts val="400"/>
              </a:spcAft>
            </a:pPr>
            <a:r>
              <a:rPr sz="1300" b="1" i="0">
                <a:solidFill>
                  <a:srgbClr val="003366"/>
                </a:solidFill>
                <a:latin typeface="Segoe UI Semibold"/>
              </a:rPr>
              <a:t>Câu hỏi nghiên cứu</a:t>
            </a:r>
          </a:p>
          <a:p>
            <a:pPr algn="l">
              <a:lnSpc>
                <a:spcPct val="108000"/>
              </a:lnSpc>
            </a:pPr>
            <a:r>
              <a:rPr sz="1600" b="0" i="0">
                <a:solidFill>
                  <a:srgbClr val="1C2634"/>
                </a:solidFill>
                <a:latin typeface="Segoe UI"/>
              </a:rPr>
              <a:t>Có thể kết hợp dữ liệu mặt đất, vệ tinh và thời tiết để ước tính PM2.5 tại những vị trí chưa có trạm hay không — và độ tin cậy đến đâu?</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5A5F69"/>
                </a:solidFill>
                <a:latin typeface="Segoe UI"/>
              </a:rPr>
              <a:t>5</a:t>
            </a:r>
          </a:p>
        </p:txBody>
      </p:sp>
      <p:sp>
        <p:nvSpPr>
          <p:cNvPr id="4" name="TextBox 3"/>
          <p:cNvSpPr txBox="1"/>
          <p:nvPr/>
        </p:nvSpPr>
        <p:spPr>
          <a:xfrm>
            <a:off x="566928" y="91440"/>
            <a:ext cx="11064240" cy="658368"/>
          </a:xfrm>
          <a:prstGeom prst="rect">
            <a:avLst/>
          </a:prstGeom>
          <a:noFill/>
        </p:spPr>
        <p:txBody>
          <a:bodyPr wrap="square" lIns="0" tIns="0" rIns="0" bIns="0" anchor="ctr">
            <a:spAutoFit/>
          </a:bodyPr>
          <a:lstStyle/>
          <a:p>
            <a:pPr algn="l"/>
            <a:r>
              <a:rPr sz="2500" b="1" i="0">
                <a:solidFill>
                  <a:srgbClr val="FFFFFF"/>
                </a:solidFill>
                <a:latin typeface="Segoe UI Semibold"/>
              </a:rPr>
              <a:t>Mục tiêu và nội dung nghiên cứu</a:t>
            </a:r>
          </a:p>
        </p:txBody>
      </p:sp>
      <p:sp>
        <p:nvSpPr>
          <p:cNvPr id="5" name="TextBox 4"/>
          <p:cNvSpPr txBox="1"/>
          <p:nvPr/>
        </p:nvSpPr>
        <p:spPr>
          <a:xfrm>
            <a:off x="640080" y="1188720"/>
            <a:ext cx="5394960" cy="365760"/>
          </a:xfrm>
          <a:prstGeom prst="rect">
            <a:avLst/>
          </a:prstGeom>
          <a:noFill/>
        </p:spPr>
        <p:txBody>
          <a:bodyPr wrap="square" lIns="0" tIns="0" rIns="0" bIns="0" anchor="t">
            <a:spAutoFit/>
          </a:bodyPr>
          <a:lstStyle/>
          <a:p>
            <a:pPr algn="l"/>
            <a:r>
              <a:rPr sz="1700" b="1" i="0">
                <a:solidFill>
                  <a:srgbClr val="C02034"/>
                </a:solidFill>
                <a:latin typeface="Segoe UI Semibold"/>
              </a:rPr>
              <a:t>Mục tiêu</a:t>
            </a:r>
          </a:p>
        </p:txBody>
      </p:sp>
      <p:sp>
        <p:nvSpPr>
          <p:cNvPr id="6" name="TextBox 5"/>
          <p:cNvSpPr txBox="1"/>
          <p:nvPr/>
        </p:nvSpPr>
        <p:spPr>
          <a:xfrm>
            <a:off x="640080" y="1691640"/>
            <a:ext cx="5394960" cy="3840480"/>
          </a:xfrm>
          <a:prstGeom prst="rect">
            <a:avLst/>
          </a:prstGeom>
          <a:noFill/>
        </p:spPr>
        <p:txBody>
          <a:bodyPr wrap="square" lIns="0" tIns="0" rIns="0" bIns="0" anchor="t">
            <a:spAutoFit/>
          </a:bodyPr>
          <a:lstStyle/>
          <a:p>
            <a:pPr algn="l">
              <a:lnSpc>
                <a:spcPct val="105000"/>
              </a:lnSpc>
              <a:spcAft>
                <a:spcPts val="1200"/>
              </a:spcAft>
            </a:pPr>
            <a:r>
              <a:rPr sz="1650" b="1" i="0">
                <a:solidFill>
                  <a:srgbClr val="C02034"/>
                </a:solidFill>
                <a:latin typeface="Segoe UI"/>
              </a:rPr>
              <a:t>▪  </a:t>
            </a:r>
            <a:r>
              <a:rPr sz="1650" b="0" i="0">
                <a:solidFill>
                  <a:srgbClr val="1C2634"/>
                </a:solidFill>
                <a:latin typeface="Segoe UI"/>
              </a:rPr>
              <a:t>Xây dựng bộ dữ liệu hợp nhất PM2.5 đa nguồn cho Việt Nam.</a:t>
            </a:r>
          </a:p>
          <a:p>
            <a:pPr algn="l">
              <a:lnSpc>
                <a:spcPct val="105000"/>
              </a:lnSpc>
              <a:spcAft>
                <a:spcPts val="1200"/>
              </a:spcAft>
            </a:pPr>
            <a:r>
              <a:rPr sz="1650" b="1" i="0">
                <a:solidFill>
                  <a:srgbClr val="C02034"/>
                </a:solidFill>
                <a:latin typeface="Segoe UI"/>
              </a:rPr>
              <a:t>▪  </a:t>
            </a:r>
            <a:r>
              <a:rPr sz="1650" b="0" i="0">
                <a:solidFill>
                  <a:srgbClr val="1C2634"/>
                </a:solidFill>
                <a:latin typeface="Segoe UI"/>
              </a:rPr>
              <a:t>Đánh giá khả năng ước tính PM2.5 tại vị trí chưa có trạm trên phạm vi toàn quốc.</a:t>
            </a:r>
          </a:p>
          <a:p>
            <a:pPr algn="l">
              <a:lnSpc>
                <a:spcPct val="105000"/>
              </a:lnSpc>
              <a:spcAft>
                <a:spcPts val="1200"/>
              </a:spcAft>
            </a:pPr>
            <a:r>
              <a:rPr sz="1650" b="1" i="0">
                <a:solidFill>
                  <a:srgbClr val="C02034"/>
                </a:solidFill>
                <a:latin typeface="Segoe UI"/>
              </a:rPr>
              <a:t>▪  </a:t>
            </a:r>
            <a:r>
              <a:rPr sz="1650" b="0" i="0">
                <a:solidFill>
                  <a:srgbClr val="1C2634"/>
                </a:solidFill>
                <a:latin typeface="Segoe UI"/>
              </a:rPr>
              <a:t>Xác định phạm vi và điều kiện cho phép ước tính tin cậy; xây dựng và kiểm chứng mô hình trong phạm vi đó.</a:t>
            </a:r>
          </a:p>
        </p:txBody>
      </p:sp>
      <p:sp>
        <p:nvSpPr>
          <p:cNvPr id="7" name="TextBox 6"/>
          <p:cNvSpPr txBox="1"/>
          <p:nvPr/>
        </p:nvSpPr>
        <p:spPr>
          <a:xfrm>
            <a:off x="6355080" y="1188720"/>
            <a:ext cx="5394960" cy="365760"/>
          </a:xfrm>
          <a:prstGeom prst="rect">
            <a:avLst/>
          </a:prstGeom>
          <a:noFill/>
        </p:spPr>
        <p:txBody>
          <a:bodyPr wrap="square" lIns="0" tIns="0" rIns="0" bIns="0" anchor="t">
            <a:spAutoFit/>
          </a:bodyPr>
          <a:lstStyle/>
          <a:p>
            <a:pPr algn="l"/>
            <a:r>
              <a:rPr sz="1700" b="1" i="0">
                <a:solidFill>
                  <a:srgbClr val="C02034"/>
                </a:solidFill>
                <a:latin typeface="Segoe UI Semibold"/>
              </a:rPr>
              <a:t>Nội dung nghiên cứu</a:t>
            </a:r>
          </a:p>
        </p:txBody>
      </p:sp>
      <p:sp>
        <p:nvSpPr>
          <p:cNvPr id="8" name="TextBox 7"/>
          <p:cNvSpPr txBox="1"/>
          <p:nvPr/>
        </p:nvSpPr>
        <p:spPr>
          <a:xfrm>
            <a:off x="6355080" y="1691640"/>
            <a:ext cx="5394960" cy="3840480"/>
          </a:xfrm>
          <a:prstGeom prst="rect">
            <a:avLst/>
          </a:prstGeom>
          <a:noFill/>
        </p:spPr>
        <p:txBody>
          <a:bodyPr wrap="square" lIns="0" tIns="0" rIns="0" bIns="0" anchor="t">
            <a:spAutoFit/>
          </a:bodyPr>
          <a:lstStyle/>
          <a:p>
            <a:pPr algn="l">
              <a:lnSpc>
                <a:spcPct val="105000"/>
              </a:lnSpc>
              <a:spcAft>
                <a:spcPts val="1200"/>
              </a:spcAft>
            </a:pPr>
            <a:r>
              <a:rPr sz="1650" b="1" i="0">
                <a:solidFill>
                  <a:srgbClr val="C02034"/>
                </a:solidFill>
                <a:latin typeface="Segoe UI"/>
              </a:rPr>
              <a:t>▪  </a:t>
            </a:r>
            <a:r>
              <a:rPr sz="1650" b="0" i="0">
                <a:solidFill>
                  <a:srgbClr val="1C2634"/>
                </a:solidFill>
                <a:latin typeface="Segoe UI"/>
              </a:rPr>
              <a:t>Thu thập và hợp nhất dữ liệu đa nguồn; lọc chất lượng PM2.5 cấp dòng.</a:t>
            </a:r>
          </a:p>
          <a:p>
            <a:pPr algn="l">
              <a:lnSpc>
                <a:spcPct val="105000"/>
              </a:lnSpc>
              <a:spcAft>
                <a:spcPts val="1200"/>
              </a:spcAft>
            </a:pPr>
            <a:r>
              <a:rPr sz="1650" b="1" i="0">
                <a:solidFill>
                  <a:srgbClr val="C02034"/>
                </a:solidFill>
                <a:latin typeface="Segoe UI"/>
              </a:rPr>
              <a:t>▪  </a:t>
            </a:r>
            <a:r>
              <a:rPr sz="1650" b="0" i="0">
                <a:solidFill>
                  <a:srgbClr val="1C2634"/>
                </a:solidFill>
                <a:latin typeface="Segoe UI"/>
              </a:rPr>
              <a:t>Xây dựng và đánh giá XGBoost toàn quốc; phát triển mô hình vùng đồng bằng sông Hồng với RFSI và hướng gió.</a:t>
            </a:r>
          </a:p>
          <a:p>
            <a:pPr algn="l">
              <a:lnSpc>
                <a:spcPct val="105000"/>
              </a:lnSpc>
              <a:spcAft>
                <a:spcPts val="1200"/>
              </a:spcAft>
            </a:pPr>
            <a:r>
              <a:rPr sz="1650" b="1" i="0">
                <a:solidFill>
                  <a:srgbClr val="C02034"/>
                </a:solidFill>
                <a:latin typeface="Segoe UI"/>
              </a:rPr>
              <a:t>▪  </a:t>
            </a:r>
            <a:r>
              <a:rPr sz="1650" b="0" i="0">
                <a:solidFill>
                  <a:srgbClr val="1C2634"/>
                </a:solidFill>
                <a:latin typeface="Segoe UI"/>
              </a:rPr>
              <a:t>Đánh giá bằng KFold, LOSO, 41 LCS + Đại sứ quán; ước tính PM2.5 trên lưới vùng.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nav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96AAC3"/>
                </a:solidFill>
                <a:latin typeface="Segoe UI"/>
              </a:rPr>
              <a:t>6</a:t>
            </a:r>
          </a:p>
        </p:txBody>
      </p:sp>
      <p:pic>
        <p:nvPicPr>
          <p:cNvPr id="4" name="Picture 3" descr="logo_white.png"/>
          <p:cNvPicPr>
            <a:picLocks noChangeAspect="1"/>
          </p:cNvPicPr>
          <p:nvPr/>
        </p:nvPicPr>
        <p:blipFill>
          <a:blip r:embed="rId3"/>
          <a:stretch>
            <a:fillRect/>
          </a:stretch>
        </p:blipFill>
        <p:spPr>
          <a:xfrm>
            <a:off x="566928" y="502920"/>
            <a:ext cx="1443089" cy="566928"/>
          </a:xfrm>
          <a:prstGeom prst="rect">
            <a:avLst/>
          </a:prstGeom>
        </p:spPr>
      </p:pic>
      <p:sp>
        <p:nvSpPr>
          <p:cNvPr id="5" name="TextBox 4"/>
          <p:cNvSpPr txBox="1"/>
          <p:nvPr/>
        </p:nvSpPr>
        <p:spPr>
          <a:xfrm>
            <a:off x="603504" y="2331720"/>
            <a:ext cx="2011680" cy="1463040"/>
          </a:xfrm>
          <a:prstGeom prst="rect">
            <a:avLst/>
          </a:prstGeom>
          <a:noFill/>
        </p:spPr>
        <p:txBody>
          <a:bodyPr wrap="square" lIns="0" tIns="0" rIns="0" bIns="0" anchor="ctr">
            <a:spAutoFit/>
          </a:bodyPr>
          <a:lstStyle/>
          <a:p>
            <a:pPr algn="l"/>
            <a:r>
              <a:rPr sz="9600" b="1" i="0">
                <a:solidFill>
                  <a:srgbClr val="FFFFFF"/>
                </a:solidFill>
                <a:latin typeface="Segoe UI Semibold"/>
              </a:rPr>
              <a:t>1</a:t>
            </a:r>
          </a:p>
        </p:txBody>
      </p:sp>
      <p:cxnSp>
        <p:nvCxnSpPr>
          <p:cNvPr id="6" name="Connector 5"/>
          <p:cNvCxnSpPr/>
          <p:nvPr/>
        </p:nvCxnSpPr>
        <p:spPr>
          <a:xfrm>
            <a:off x="2697480" y="3154680"/>
            <a:ext cx="18288" cy="0"/>
          </a:xfrm>
          <a:prstGeom prst="bentConnector3">
            <a:avLst/>
          </a:prstGeom>
          <a:ln>
            <a:solidFill>
              <a:srgbClr val="C0203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2468880"/>
            <a:ext cx="0" cy="1508759"/>
          </a:xfrm>
          <a:prstGeom prst="bentConnector3">
            <a:avLst/>
          </a:prstGeom>
          <a:ln w="31750">
            <a:solidFill>
              <a:srgbClr val="C02034"/>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017520" y="2331720"/>
            <a:ext cx="8229600" cy="1554480"/>
          </a:xfrm>
          <a:prstGeom prst="rect">
            <a:avLst/>
          </a:prstGeom>
          <a:noFill/>
        </p:spPr>
        <p:txBody>
          <a:bodyPr wrap="square" lIns="0" tIns="0" rIns="0" bIns="0" anchor="ctr">
            <a:spAutoFit/>
          </a:bodyPr>
          <a:lstStyle/>
          <a:p>
            <a:pPr algn="l"/>
            <a:r>
              <a:rPr sz="3600" b="1" i="0">
                <a:solidFill>
                  <a:srgbClr val="FFFFFF"/>
                </a:solidFill>
                <a:latin typeface="Segoe UI Semibold"/>
              </a:rPr>
              <a:t>Dữ liệu và phương pháp</a:t>
            </a:r>
          </a:p>
          <a:p>
            <a:pPr algn="l">
              <a:lnSpc>
                <a:spcPct val="110000"/>
              </a:lnSpc>
              <a:spcBef>
                <a:spcPts val="1000"/>
              </a:spcBef>
            </a:pPr>
            <a:r>
              <a:rPr sz="1700" b="0" i="0">
                <a:solidFill>
                  <a:srgbClr val="BED2E6"/>
                </a:solidFill>
                <a:latin typeface="Segoe UI"/>
              </a:rPr>
              <a:t>Bộ dữ liệu hợp nhất · kiểm soát chất lượng · đặc trưng và RFSI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5A5F69"/>
                </a:solidFill>
                <a:latin typeface="Segoe UI"/>
              </a:rPr>
              <a:t>7</a:t>
            </a:r>
          </a:p>
        </p:txBody>
      </p:sp>
      <p:sp>
        <p:nvSpPr>
          <p:cNvPr id="4" name="TextBox 3"/>
          <p:cNvSpPr txBox="1"/>
          <p:nvPr/>
        </p:nvSpPr>
        <p:spPr>
          <a:xfrm>
            <a:off x="566928" y="91440"/>
            <a:ext cx="11064240" cy="658368"/>
          </a:xfrm>
          <a:prstGeom prst="rect">
            <a:avLst/>
          </a:prstGeom>
          <a:noFill/>
        </p:spPr>
        <p:txBody>
          <a:bodyPr wrap="square" lIns="0" tIns="0" rIns="0" bIns="0" anchor="ctr">
            <a:spAutoFit/>
          </a:bodyPr>
          <a:lstStyle/>
          <a:p>
            <a:pPr algn="l"/>
            <a:r>
              <a:rPr sz="2500" b="1" i="0">
                <a:solidFill>
                  <a:srgbClr val="FFFFFF"/>
                </a:solidFill>
                <a:latin typeface="Segoe UI Semibold"/>
              </a:rPr>
              <a:t>Mạng trạm quan trắc và vùng nghiên cứu</a:t>
            </a:r>
          </a:p>
        </p:txBody>
      </p:sp>
      <p:pic>
        <p:nvPicPr>
          <p:cNvPr id="5" name="Picture 4" descr="fig_station_map.png"/>
          <p:cNvPicPr>
            <a:picLocks noChangeAspect="1"/>
          </p:cNvPicPr>
          <p:nvPr/>
        </p:nvPicPr>
        <p:blipFill>
          <a:blip r:embed="rId3"/>
          <a:stretch>
            <a:fillRect/>
          </a:stretch>
        </p:blipFill>
        <p:spPr>
          <a:xfrm>
            <a:off x="733828" y="960120"/>
            <a:ext cx="10721295" cy="4983480"/>
          </a:xfrm>
          <a:prstGeom prst="rect">
            <a:avLst/>
          </a:prstGeom>
        </p:spPr>
      </p:pic>
      <p:sp>
        <p:nvSpPr>
          <p:cNvPr id="6" name="TextBox 5"/>
          <p:cNvSpPr txBox="1"/>
          <p:nvPr/>
        </p:nvSpPr>
        <p:spPr>
          <a:xfrm>
            <a:off x="566928" y="5980176"/>
            <a:ext cx="11064240" cy="292608"/>
          </a:xfrm>
          <a:prstGeom prst="rect">
            <a:avLst/>
          </a:prstGeom>
          <a:noFill/>
        </p:spPr>
        <p:txBody>
          <a:bodyPr wrap="square" lIns="0" tIns="0" rIns="0" bIns="0" anchor="t">
            <a:spAutoFit/>
          </a:bodyPr>
          <a:lstStyle/>
          <a:p>
            <a:pPr algn="ctr">
              <a:lnSpc>
                <a:spcPct val="100000"/>
              </a:lnSpc>
            </a:pPr>
            <a:r>
              <a:rPr sz="1250" b="0" i="0">
                <a:solidFill>
                  <a:srgbClr val="5A5F69"/>
                </a:solidFill>
                <a:latin typeface="Segoe UI"/>
              </a:rPr>
              <a:t>40 trạm KK dùng cho mô hình toàn quốc · 12 trạm KK vùng ĐBSH (đỏ) · 41 LCS + Đại sứ quán Hoa Kỳ nằm ngoài tập nghiên cứu, chỉ dùng để đánh giá.</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5A5F69"/>
                </a:solidFill>
                <a:latin typeface="Segoe UI"/>
              </a:rPr>
              <a:t>8</a:t>
            </a:r>
          </a:p>
        </p:txBody>
      </p:sp>
      <p:sp>
        <p:nvSpPr>
          <p:cNvPr id="4" name="TextBox 3"/>
          <p:cNvSpPr txBox="1"/>
          <p:nvPr/>
        </p:nvSpPr>
        <p:spPr>
          <a:xfrm>
            <a:off x="566928" y="91440"/>
            <a:ext cx="11064240" cy="658368"/>
          </a:xfrm>
          <a:prstGeom prst="rect">
            <a:avLst/>
          </a:prstGeom>
          <a:noFill/>
        </p:spPr>
        <p:txBody>
          <a:bodyPr wrap="square" lIns="0" tIns="0" rIns="0" bIns="0" anchor="ctr">
            <a:spAutoFit/>
          </a:bodyPr>
          <a:lstStyle/>
          <a:p>
            <a:pPr algn="l"/>
            <a:r>
              <a:rPr sz="2500" b="1" i="0">
                <a:solidFill>
                  <a:srgbClr val="FFFFFF"/>
                </a:solidFill>
                <a:latin typeface="Segoe UI Semibold"/>
              </a:rPr>
              <a:t>Quy trình dữ liệu và mô hình</a:t>
            </a:r>
          </a:p>
        </p:txBody>
      </p:sp>
      <p:pic>
        <p:nvPicPr>
          <p:cNvPr id="5" name="Picture 4" descr="fig_pipeline_v2.png"/>
          <p:cNvPicPr>
            <a:picLocks noChangeAspect="1"/>
          </p:cNvPicPr>
          <p:nvPr/>
        </p:nvPicPr>
        <p:blipFill>
          <a:blip r:embed="rId3"/>
          <a:stretch>
            <a:fillRect/>
          </a:stretch>
        </p:blipFill>
        <p:spPr>
          <a:xfrm>
            <a:off x="1351895" y="914400"/>
            <a:ext cx="9485162" cy="5029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5A5F69"/>
                </a:solidFill>
                <a:latin typeface="Segoe UI"/>
              </a:rPr>
              <a:t>9</a:t>
            </a:r>
          </a:p>
        </p:txBody>
      </p:sp>
      <p:sp>
        <p:nvSpPr>
          <p:cNvPr id="4" name="TextBox 3"/>
          <p:cNvSpPr txBox="1"/>
          <p:nvPr/>
        </p:nvSpPr>
        <p:spPr>
          <a:xfrm>
            <a:off x="566928" y="91440"/>
            <a:ext cx="11064240" cy="658368"/>
          </a:xfrm>
          <a:prstGeom prst="rect">
            <a:avLst/>
          </a:prstGeom>
          <a:noFill/>
        </p:spPr>
        <p:txBody>
          <a:bodyPr wrap="square" lIns="0" tIns="0" rIns="0" bIns="0" anchor="ctr">
            <a:spAutoFit/>
          </a:bodyPr>
          <a:lstStyle/>
          <a:p>
            <a:pPr algn="l"/>
            <a:r>
              <a:rPr sz="2500" b="1" i="0">
                <a:solidFill>
                  <a:srgbClr val="FFFFFF"/>
                </a:solidFill>
                <a:latin typeface="Segoe UI Semibold"/>
              </a:rPr>
              <a:t>Phạm vi và độ phủ dữ liệu</a:t>
            </a:r>
          </a:p>
        </p:txBody>
      </p:sp>
      <p:sp>
        <p:nvSpPr>
          <p:cNvPr id="5" name="Rounded Rectangle 4"/>
          <p:cNvSpPr/>
          <p:nvPr/>
        </p:nvSpPr>
        <p:spPr>
          <a:xfrm>
            <a:off x="640080" y="1234440"/>
            <a:ext cx="2587752" cy="1143000"/>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234440"/>
            <a:ext cx="82296" cy="1143000"/>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8" y="1362456"/>
            <a:ext cx="2276856" cy="923544"/>
          </a:xfrm>
          <a:prstGeom prst="rect">
            <a:avLst/>
          </a:prstGeom>
          <a:noFill/>
        </p:spPr>
        <p:txBody>
          <a:bodyPr wrap="square" lIns="0" tIns="0" rIns="0" bIns="0" anchor="ctr">
            <a:spAutoFit/>
          </a:bodyPr>
          <a:lstStyle/>
          <a:p>
            <a:pPr algn="l"/>
            <a:r>
              <a:rPr sz="3000" b="1" i="0">
                <a:solidFill>
                  <a:srgbClr val="003366"/>
                </a:solidFill>
                <a:latin typeface="Segoe UI Semibold"/>
              </a:rPr>
              <a:t>121</a:t>
            </a:r>
          </a:p>
          <a:p>
            <a:pPr algn="l">
              <a:lnSpc>
                <a:spcPct val="100000"/>
              </a:lnSpc>
              <a:spcBef>
                <a:spcPts val="200"/>
              </a:spcBef>
            </a:pPr>
            <a:r>
              <a:rPr sz="1200" b="0" i="0">
                <a:solidFill>
                  <a:srgbClr val="5A5F69"/>
                </a:solidFill>
                <a:latin typeface="Segoe UI"/>
              </a:rPr>
              <a:t>trạm trong bảng hợp nhất</a:t>
            </a:r>
          </a:p>
        </p:txBody>
      </p:sp>
      <p:sp>
        <p:nvSpPr>
          <p:cNvPr id="8" name="Rounded Rectangle 7"/>
          <p:cNvSpPr/>
          <p:nvPr/>
        </p:nvSpPr>
        <p:spPr>
          <a:xfrm>
            <a:off x="3346704" y="1234440"/>
            <a:ext cx="2587752" cy="1143000"/>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346704" y="1234440"/>
            <a:ext cx="82296" cy="1143000"/>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47872" y="1362456"/>
            <a:ext cx="2276856" cy="923544"/>
          </a:xfrm>
          <a:prstGeom prst="rect">
            <a:avLst/>
          </a:prstGeom>
          <a:noFill/>
        </p:spPr>
        <p:txBody>
          <a:bodyPr wrap="square" lIns="0" tIns="0" rIns="0" bIns="0" anchor="ctr">
            <a:spAutoFit/>
          </a:bodyPr>
          <a:lstStyle/>
          <a:p>
            <a:pPr algn="l"/>
            <a:r>
              <a:rPr sz="3000" b="1" i="0">
                <a:solidFill>
                  <a:srgbClr val="003366"/>
                </a:solidFill>
                <a:latin typeface="Segoe UI Semibold"/>
              </a:rPr>
              <a:t>40</a:t>
            </a:r>
          </a:p>
          <a:p>
            <a:pPr algn="l">
              <a:lnSpc>
                <a:spcPct val="100000"/>
              </a:lnSpc>
              <a:spcBef>
                <a:spcPts val="200"/>
              </a:spcBef>
            </a:pPr>
            <a:r>
              <a:rPr sz="1200" b="0" i="0">
                <a:solidFill>
                  <a:srgbClr val="5A5F69"/>
                </a:solidFill>
                <a:latin typeface="Segoe UI"/>
              </a:rPr>
              <a:t>trạm KK huấn luyện</a:t>
            </a:r>
          </a:p>
        </p:txBody>
      </p:sp>
      <p:sp>
        <p:nvSpPr>
          <p:cNvPr id="11" name="Rounded Rectangle 10"/>
          <p:cNvSpPr/>
          <p:nvPr/>
        </p:nvSpPr>
        <p:spPr>
          <a:xfrm>
            <a:off x="6053328" y="1234440"/>
            <a:ext cx="2587752" cy="1143000"/>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053328" y="1234440"/>
            <a:ext cx="82296" cy="1143000"/>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54496" y="1362456"/>
            <a:ext cx="2276856" cy="923544"/>
          </a:xfrm>
          <a:prstGeom prst="rect">
            <a:avLst/>
          </a:prstGeom>
          <a:noFill/>
        </p:spPr>
        <p:txBody>
          <a:bodyPr wrap="square" lIns="0" tIns="0" rIns="0" bIns="0" anchor="ctr">
            <a:spAutoFit/>
          </a:bodyPr>
          <a:lstStyle/>
          <a:p>
            <a:pPr algn="l"/>
            <a:r>
              <a:rPr sz="3000" b="1" i="0">
                <a:solidFill>
                  <a:srgbClr val="003366"/>
                </a:solidFill>
                <a:latin typeface="Segoe UI Semibold"/>
              </a:rPr>
              <a:t>12</a:t>
            </a:r>
          </a:p>
          <a:p>
            <a:pPr algn="l">
              <a:lnSpc>
                <a:spcPct val="100000"/>
              </a:lnSpc>
              <a:spcBef>
                <a:spcPts val="200"/>
              </a:spcBef>
            </a:pPr>
            <a:r>
              <a:rPr sz="1200" b="0" i="0">
                <a:solidFill>
                  <a:srgbClr val="5A5F69"/>
                </a:solidFill>
                <a:latin typeface="Segoe UI"/>
              </a:rPr>
              <a:t>trạm KK vùng ĐBSH</a:t>
            </a:r>
          </a:p>
        </p:txBody>
      </p:sp>
      <p:sp>
        <p:nvSpPr>
          <p:cNvPr id="14" name="Rounded Rectangle 13"/>
          <p:cNvSpPr/>
          <p:nvPr/>
        </p:nvSpPr>
        <p:spPr>
          <a:xfrm>
            <a:off x="8759952" y="1234440"/>
            <a:ext cx="2788920" cy="1143000"/>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759952" y="1234440"/>
            <a:ext cx="82296" cy="1143000"/>
          </a:xfrm>
          <a:prstGeom prst="roundRect">
            <a:avLst>
              <a:gd name="adj" fmla="val 50000"/>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0" y="1362456"/>
            <a:ext cx="2478024" cy="923544"/>
          </a:xfrm>
          <a:prstGeom prst="rect">
            <a:avLst/>
          </a:prstGeom>
          <a:noFill/>
        </p:spPr>
        <p:txBody>
          <a:bodyPr wrap="square" lIns="0" tIns="0" rIns="0" bIns="0" anchor="ctr">
            <a:spAutoFit/>
          </a:bodyPr>
          <a:lstStyle/>
          <a:p>
            <a:pPr algn="l"/>
            <a:r>
              <a:rPr sz="3000" b="1" i="0">
                <a:solidFill>
                  <a:srgbClr val="C02034"/>
                </a:solidFill>
                <a:latin typeface="Segoe UI Semibold"/>
              </a:rPr>
              <a:t>41</a:t>
            </a:r>
          </a:p>
          <a:p>
            <a:pPr algn="l">
              <a:lnSpc>
                <a:spcPct val="100000"/>
              </a:lnSpc>
              <a:spcBef>
                <a:spcPts val="200"/>
              </a:spcBef>
            </a:pPr>
            <a:r>
              <a:rPr sz="1200" b="0" i="0">
                <a:solidFill>
                  <a:srgbClr val="5A5F69"/>
                </a:solidFill>
                <a:latin typeface="Segoe UI"/>
              </a:rPr>
              <a:t>trạm LCS kiểm định</a:t>
            </a:r>
          </a:p>
        </p:txBody>
      </p:sp>
      <p:sp>
        <p:nvSpPr>
          <p:cNvPr id="17" name="TextBox 16"/>
          <p:cNvSpPr txBox="1"/>
          <p:nvPr/>
        </p:nvSpPr>
        <p:spPr>
          <a:xfrm>
            <a:off x="640080" y="2697480"/>
            <a:ext cx="6675120" cy="3291840"/>
          </a:xfrm>
          <a:prstGeom prst="rect">
            <a:avLst/>
          </a:prstGeom>
          <a:noFill/>
        </p:spPr>
        <p:txBody>
          <a:bodyPr wrap="square" lIns="0" tIns="0" rIns="0" bIns="0" anchor="t">
            <a:spAutoFit/>
          </a:bodyPr>
          <a:lstStyle/>
          <a:p>
            <a:pPr algn="l">
              <a:lnSpc>
                <a:spcPct val="105000"/>
              </a:lnSpc>
              <a:spcAft>
                <a:spcPts val="1300"/>
              </a:spcAft>
            </a:pPr>
            <a:r>
              <a:rPr sz="1600" b="1" i="0">
                <a:solidFill>
                  <a:srgbClr val="C02034"/>
                </a:solidFill>
                <a:latin typeface="Segoe UI"/>
              </a:rPr>
              <a:t>▪  </a:t>
            </a:r>
            <a:r>
              <a:rPr sz="1600" b="0" i="0">
                <a:solidFill>
                  <a:srgbClr val="1C2634"/>
                </a:solidFill>
                <a:latin typeface="Segoe UI"/>
              </a:rPr>
              <a:t>121 trạm, theo giờ, 2015–2026; mỗi trạm phủ thời gian khác nhau.</a:t>
            </a:r>
          </a:p>
          <a:p>
            <a:pPr algn="l">
              <a:lnSpc>
                <a:spcPct val="105000"/>
              </a:lnSpc>
              <a:spcAft>
                <a:spcPts val="1300"/>
              </a:spcAft>
            </a:pPr>
            <a:r>
              <a:rPr sz="1600" b="1" i="0">
                <a:solidFill>
                  <a:srgbClr val="C02034"/>
                </a:solidFill>
                <a:latin typeface="Segoe UI"/>
              </a:rPr>
              <a:t>▪  </a:t>
            </a:r>
            <a:r>
              <a:rPr sz="1600" b="0" i="0">
                <a:solidFill>
                  <a:srgbClr val="1C2634"/>
                </a:solidFill>
                <a:latin typeface="Segoe UI"/>
              </a:rPr>
              <a:t>40 trạm KK có hơn một năm dữ liệu để giảm lệch theo mùa; 12 trạm nằm trong vùng ĐBSH.</a:t>
            </a:r>
          </a:p>
          <a:p>
            <a:pPr algn="l">
              <a:lnSpc>
                <a:spcPct val="105000"/>
              </a:lnSpc>
              <a:spcAft>
                <a:spcPts val="1300"/>
              </a:spcAft>
            </a:pPr>
            <a:r>
              <a:rPr sz="1600" b="1" i="0">
                <a:solidFill>
                  <a:srgbClr val="C02034"/>
                </a:solidFill>
                <a:latin typeface="Segoe UI"/>
              </a:rPr>
              <a:t>▪  </a:t>
            </a:r>
            <a:r>
              <a:rPr sz="1600" b="0" i="0">
                <a:solidFill>
                  <a:srgbClr val="1C2634"/>
                </a:solidFill>
                <a:latin typeface="Segoe UI"/>
              </a:rPr>
              <a:t>Độ phủ: thời tiết và chu kỳ thời gian gần đầy đủ (~91–100%); AOD theo giờ chỉ khoảng 11%.</a:t>
            </a:r>
          </a:p>
        </p:txBody>
      </p:sp>
      <p:sp>
        <p:nvSpPr>
          <p:cNvPr id="18" name="Rounded Rectangle 17"/>
          <p:cNvSpPr/>
          <p:nvPr/>
        </p:nvSpPr>
        <p:spPr>
          <a:xfrm>
            <a:off x="7543800" y="2697480"/>
            <a:ext cx="4023360" cy="3246120"/>
          </a:xfrm>
          <a:prstGeom prst="roundRect">
            <a:avLst>
              <a:gd name="adj" fmla="val 10000"/>
            </a:avLst>
          </a:prstGeom>
          <a:solidFill>
            <a:srgbClr val="FC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543800" y="2697480"/>
            <a:ext cx="82296" cy="3246120"/>
          </a:xfrm>
          <a:prstGeom prst="roundRect">
            <a:avLst>
              <a:gd name="adj" fmla="val 50000"/>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81544" y="2807208"/>
            <a:ext cx="3639312" cy="3044952"/>
          </a:xfrm>
          <a:prstGeom prst="rect">
            <a:avLst/>
          </a:prstGeom>
          <a:noFill/>
        </p:spPr>
        <p:txBody>
          <a:bodyPr wrap="square" lIns="0" tIns="0" rIns="0" bIns="0" anchor="ctr">
            <a:spAutoFit/>
          </a:bodyPr>
          <a:lstStyle/>
          <a:p>
            <a:pPr algn="l">
              <a:spcAft>
                <a:spcPts val="400"/>
              </a:spcAft>
            </a:pPr>
            <a:r>
              <a:rPr sz="1200" b="1" i="0">
                <a:solidFill>
                  <a:srgbClr val="C02034"/>
                </a:solidFill>
                <a:latin typeface="Segoe UI Semibold"/>
              </a:rPr>
              <a:t>Vì sao LCS nằm ngoài tập nghiên cứu</a:t>
            </a:r>
          </a:p>
          <a:p>
            <a:pPr algn="l">
              <a:lnSpc>
                <a:spcPct val="108000"/>
              </a:lnSpc>
            </a:pPr>
            <a:r>
              <a:rPr sz="1400" b="0" i="0">
                <a:solidFill>
                  <a:srgbClr val="1C2634"/>
                </a:solidFill>
                <a:latin typeface="Segoe UI"/>
              </a:rPr>
              <a:t>Nhiều chuỗi LCS chưa đủ một năm; nếu đưa vào tập nghiên cứu, kết quả có thể lệch theo mùa. Vì vậy LCS chỉ dùng để đánh giá.
Trạm Đại sứ quán Hoa Kỳ có chuỗi dài và chất lượng cao, được dùng để đánh giá riêng.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5A5F69"/>
                </a:solidFill>
                <a:latin typeface="Segoe UI"/>
              </a:rPr>
              <a:t>10</a:t>
            </a:r>
          </a:p>
        </p:txBody>
      </p:sp>
      <p:sp>
        <p:nvSpPr>
          <p:cNvPr id="4" name="TextBox 3"/>
          <p:cNvSpPr txBox="1"/>
          <p:nvPr/>
        </p:nvSpPr>
        <p:spPr>
          <a:xfrm>
            <a:off x="566928" y="91440"/>
            <a:ext cx="11064240" cy="658368"/>
          </a:xfrm>
          <a:prstGeom prst="rect">
            <a:avLst/>
          </a:prstGeom>
          <a:noFill/>
        </p:spPr>
        <p:txBody>
          <a:bodyPr wrap="square" lIns="0" tIns="0" rIns="0" bIns="0" anchor="ctr">
            <a:spAutoFit/>
          </a:bodyPr>
          <a:lstStyle/>
          <a:p>
            <a:pPr algn="l"/>
            <a:r>
              <a:rPr sz="2500" b="1" i="0">
                <a:solidFill>
                  <a:srgbClr val="FFFFFF"/>
                </a:solidFill>
                <a:latin typeface="Segoe UI Semibold"/>
              </a:rPr>
              <a:t>Đặc trưng theo nhóm và RFSI</a:t>
            </a:r>
          </a:p>
        </p:txBody>
      </p:sp>
      <p:sp>
        <p:nvSpPr>
          <p:cNvPr id="5" name="TextBox 4"/>
          <p:cNvSpPr txBox="1"/>
          <p:nvPr/>
        </p:nvSpPr>
        <p:spPr>
          <a:xfrm>
            <a:off x="640080" y="1234440"/>
            <a:ext cx="5029200" cy="365760"/>
          </a:xfrm>
          <a:prstGeom prst="rect">
            <a:avLst/>
          </a:prstGeom>
          <a:noFill/>
        </p:spPr>
        <p:txBody>
          <a:bodyPr wrap="square" lIns="0" tIns="0" rIns="0" bIns="0" anchor="t">
            <a:spAutoFit/>
          </a:bodyPr>
          <a:lstStyle/>
          <a:p>
            <a:pPr algn="l"/>
            <a:r>
              <a:rPr sz="1600" b="1" i="0">
                <a:solidFill>
                  <a:srgbClr val="C02034"/>
                </a:solidFill>
                <a:latin typeface="Segoe UI Semibold"/>
              </a:rPr>
              <a:t>Sáu nhóm đặc trưng</a:t>
            </a:r>
          </a:p>
        </p:txBody>
      </p:sp>
      <p:sp>
        <p:nvSpPr>
          <p:cNvPr id="6" name="TextBox 5"/>
          <p:cNvSpPr txBox="1"/>
          <p:nvPr/>
        </p:nvSpPr>
        <p:spPr>
          <a:xfrm>
            <a:off x="640080" y="1691640"/>
            <a:ext cx="5120640" cy="4206240"/>
          </a:xfrm>
          <a:prstGeom prst="rect">
            <a:avLst/>
          </a:prstGeom>
          <a:noFill/>
        </p:spPr>
        <p:txBody>
          <a:bodyPr wrap="square" lIns="0" tIns="0" rIns="0" bIns="0" anchor="t">
            <a:spAutoFit/>
          </a:bodyPr>
          <a:lstStyle/>
          <a:p>
            <a:pPr algn="l">
              <a:lnSpc>
                <a:spcPct val="105000"/>
              </a:lnSpc>
              <a:spcAft>
                <a:spcPts val="900"/>
              </a:spcAft>
            </a:pPr>
            <a:r>
              <a:rPr sz="1550" b="1" i="0">
                <a:solidFill>
                  <a:srgbClr val="C02034"/>
                </a:solidFill>
                <a:latin typeface="Segoe UI"/>
              </a:rPr>
              <a:t>▪  </a:t>
            </a:r>
            <a:r>
              <a:rPr sz="1550" b="0" i="0">
                <a:solidFill>
                  <a:srgbClr val="1C2634"/>
                </a:solidFill>
                <a:latin typeface="Segoe UI"/>
              </a:rPr>
              <a:t>AOD vệ tinh — Himawari (giờ) và MODIS MAIAC (ngày).</a:t>
            </a:r>
          </a:p>
          <a:p>
            <a:pPr algn="l">
              <a:lnSpc>
                <a:spcPct val="105000"/>
              </a:lnSpc>
              <a:spcAft>
                <a:spcPts val="900"/>
              </a:spcAft>
            </a:pPr>
            <a:r>
              <a:rPr sz="1550" b="1" i="0">
                <a:solidFill>
                  <a:srgbClr val="C02034"/>
                </a:solidFill>
                <a:latin typeface="Segoe UI"/>
              </a:rPr>
              <a:t>▪  </a:t>
            </a:r>
            <a:r>
              <a:rPr sz="1550" b="0" i="0">
                <a:solidFill>
                  <a:srgbClr val="1C2634"/>
                </a:solidFill>
                <a:latin typeface="Segoe UI"/>
              </a:rPr>
              <a:t>Khí vết TROPOMI — bối cảnh nguồn phát thải.</a:t>
            </a:r>
          </a:p>
          <a:p>
            <a:pPr algn="l">
              <a:lnSpc>
                <a:spcPct val="105000"/>
              </a:lnSpc>
              <a:spcAft>
                <a:spcPts val="900"/>
              </a:spcAft>
            </a:pPr>
            <a:r>
              <a:rPr sz="1550" b="1" i="0">
                <a:solidFill>
                  <a:srgbClr val="C02034"/>
                </a:solidFill>
                <a:latin typeface="Segoe UI"/>
              </a:rPr>
              <a:t>▪  </a:t>
            </a:r>
            <a:r>
              <a:rPr sz="1550" b="0" i="0">
                <a:solidFill>
                  <a:srgbClr val="1C2634"/>
                </a:solidFill>
                <a:latin typeface="Segoe UI"/>
              </a:rPr>
              <a:t>Thời tiết — PBLH, gió, độ ẩm, nhiệt độ, mưa.</a:t>
            </a:r>
          </a:p>
          <a:p>
            <a:pPr algn="l">
              <a:lnSpc>
                <a:spcPct val="105000"/>
              </a:lnSpc>
              <a:spcAft>
                <a:spcPts val="900"/>
              </a:spcAft>
            </a:pPr>
            <a:r>
              <a:rPr sz="1550" b="1" i="0">
                <a:solidFill>
                  <a:srgbClr val="C02034"/>
                </a:solidFill>
                <a:latin typeface="Segoe UI"/>
              </a:rPr>
              <a:t>▪  </a:t>
            </a:r>
            <a:r>
              <a:rPr sz="1550" b="0" i="0">
                <a:solidFill>
                  <a:srgbClr val="1C2634"/>
                </a:solidFill>
                <a:latin typeface="Segoe UI"/>
              </a:rPr>
              <a:t>Chu kỳ thời gian — giờ và tháng (sin/cos).</a:t>
            </a:r>
          </a:p>
          <a:p>
            <a:pPr algn="l">
              <a:lnSpc>
                <a:spcPct val="105000"/>
              </a:lnSpc>
              <a:spcAft>
                <a:spcPts val="900"/>
              </a:spcAft>
            </a:pPr>
            <a:r>
              <a:rPr sz="1550" b="1" i="0">
                <a:solidFill>
                  <a:srgbClr val="C02034"/>
                </a:solidFill>
                <a:latin typeface="Segoe UI"/>
              </a:rPr>
              <a:t>▪  </a:t>
            </a:r>
            <a:r>
              <a:rPr sz="1550" b="0" i="0">
                <a:solidFill>
                  <a:srgbClr val="1C2634"/>
                </a:solidFill>
                <a:latin typeface="Segoe UI"/>
              </a:rPr>
              <a:t>Đặc trưng tĩnh — độ cao, mật độ xây dựng, ánh sáng đêm.</a:t>
            </a:r>
          </a:p>
          <a:p>
            <a:pPr algn="l">
              <a:lnSpc>
                <a:spcPct val="105000"/>
              </a:lnSpc>
              <a:spcAft>
                <a:spcPts val="900"/>
              </a:spcAft>
            </a:pPr>
            <a:r>
              <a:rPr sz="1550" b="1" i="0">
                <a:solidFill>
                  <a:srgbClr val="C02034"/>
                </a:solidFill>
                <a:latin typeface="Segoe UI"/>
              </a:rPr>
              <a:t>▪  </a:t>
            </a:r>
            <a:r>
              <a:rPr sz="1550" b="1" i="0">
                <a:solidFill>
                  <a:srgbClr val="003366"/>
                </a:solidFill>
                <a:latin typeface="Segoe UI"/>
              </a:rPr>
              <a:t>RFSI — PM2.5 từ trạm neo lân cận, thêm vào khi mạng trạm hoạt động.</a:t>
            </a:r>
          </a:p>
        </p:txBody>
      </p:sp>
      <p:sp>
        <p:nvSpPr>
          <p:cNvPr id="7" name="Rounded Rectangle 6"/>
          <p:cNvSpPr/>
          <p:nvPr/>
        </p:nvSpPr>
        <p:spPr>
          <a:xfrm>
            <a:off x="5943600" y="1280160"/>
            <a:ext cx="5669280" cy="2331720"/>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943600" y="1280160"/>
            <a:ext cx="82296" cy="2331720"/>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81344" y="1389888"/>
            <a:ext cx="5285232" cy="2130552"/>
          </a:xfrm>
          <a:prstGeom prst="rect">
            <a:avLst/>
          </a:prstGeom>
          <a:noFill/>
        </p:spPr>
        <p:txBody>
          <a:bodyPr wrap="square" lIns="0" tIns="0" rIns="0" bIns="0" anchor="ctr">
            <a:spAutoFit/>
          </a:bodyPr>
          <a:lstStyle/>
          <a:p>
            <a:pPr algn="l">
              <a:spcAft>
                <a:spcPts val="400"/>
              </a:spcAft>
            </a:pPr>
            <a:r>
              <a:rPr sz="1400" b="1" i="0">
                <a:solidFill>
                  <a:srgbClr val="003366"/>
                </a:solidFill>
                <a:latin typeface="Segoe UI Semibold"/>
              </a:rPr>
              <a:t>Đặc trưng RFSI</a:t>
            </a:r>
          </a:p>
          <a:p>
            <a:pPr algn="l">
              <a:lnSpc>
                <a:spcPct val="108000"/>
              </a:lnSpc>
            </a:pPr>
            <a:r>
              <a:rPr sz="1450" b="0" i="0">
                <a:solidFill>
                  <a:srgbClr val="1C2634"/>
                </a:solidFill>
                <a:latin typeface="Segoe UI"/>
              </a:rPr>
              <a:t>Nhóm đặc trưng không gian từ PM2.5 đo được tại trạm neo cùng thời điểm: nội suy theo nghịch đảo khoảng cách (IDW), ba trạm gần nhất, PM2.5 ở phía đầu gió/cuối gió và độ phân tán giữa các trạm.</a:t>
            </a:r>
          </a:p>
        </p:txBody>
      </p:sp>
      <p:sp>
        <p:nvSpPr>
          <p:cNvPr id="10" name="Rounded Rectangle 9"/>
          <p:cNvSpPr/>
          <p:nvPr/>
        </p:nvSpPr>
        <p:spPr>
          <a:xfrm>
            <a:off x="5943600" y="3794760"/>
            <a:ext cx="5669280" cy="2148840"/>
          </a:xfrm>
          <a:prstGeom prst="roundRect">
            <a:avLst>
              <a:gd name="adj" fmla="val 10000"/>
            </a:avLst>
          </a:prstGeom>
          <a:solidFill>
            <a:srgbClr val="FC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943600" y="3794760"/>
            <a:ext cx="82296" cy="2148840"/>
          </a:xfrm>
          <a:prstGeom prst="roundRect">
            <a:avLst>
              <a:gd name="adj" fmla="val 50000"/>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81344" y="3904488"/>
            <a:ext cx="5285232" cy="1947672"/>
          </a:xfrm>
          <a:prstGeom prst="rect">
            <a:avLst/>
          </a:prstGeom>
          <a:noFill/>
        </p:spPr>
        <p:txBody>
          <a:bodyPr wrap="square" lIns="0" tIns="0" rIns="0" bIns="0" anchor="ctr">
            <a:spAutoFit/>
          </a:bodyPr>
          <a:lstStyle/>
          <a:p>
            <a:pPr algn="l">
              <a:spcAft>
                <a:spcPts val="400"/>
              </a:spcAft>
            </a:pPr>
            <a:r>
              <a:rPr sz="1400" b="1" i="0">
                <a:solidFill>
                  <a:srgbClr val="C02034"/>
                </a:solidFill>
                <a:latin typeface="Segoe UI Semibold"/>
              </a:rPr>
              <a:t>RFSI trong từng lượt đánh giá</a:t>
            </a:r>
          </a:p>
          <a:p>
            <a:pPr algn="l">
              <a:lnSpc>
                <a:spcPct val="108000"/>
              </a:lnSpc>
            </a:pPr>
            <a:r>
              <a:rPr sz="1450" b="0" i="0">
                <a:solidFill>
                  <a:srgbClr val="1C2634"/>
                </a:solidFill>
                <a:latin typeface="Segoe UI"/>
              </a:rPr>
              <a:t>Trong đánh giá bỏ một trạm ra, trạm mục tiêu bị loại khỏi nhóm trạm neo; RFSI chỉ tính từ các trạm còn lại.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5A5F69"/>
                </a:solidFill>
                <a:latin typeface="Segoe UI"/>
              </a:rPr>
              <a:t>11</a:t>
            </a:r>
          </a:p>
        </p:txBody>
      </p:sp>
      <p:sp>
        <p:nvSpPr>
          <p:cNvPr id="4" name="TextBox 3"/>
          <p:cNvSpPr txBox="1"/>
          <p:nvPr/>
        </p:nvSpPr>
        <p:spPr>
          <a:xfrm>
            <a:off x="566928" y="91440"/>
            <a:ext cx="11064240" cy="658368"/>
          </a:xfrm>
          <a:prstGeom prst="rect">
            <a:avLst/>
          </a:prstGeom>
          <a:noFill/>
        </p:spPr>
        <p:txBody>
          <a:bodyPr wrap="square" lIns="0" tIns="0" rIns="0" bIns="0" anchor="ctr">
            <a:spAutoFit/>
          </a:bodyPr>
          <a:lstStyle/>
          <a:p>
            <a:pPr algn="l"/>
            <a:r>
              <a:rPr sz="2500" b="1" i="0">
                <a:solidFill>
                  <a:srgbClr val="FFFFFF"/>
                </a:solidFill>
                <a:latin typeface="Segoe UI Semibold"/>
              </a:rPr>
              <a:t>Cơ sở lựa chọn phương pháp</a:t>
            </a:r>
          </a:p>
        </p:txBody>
      </p:sp>
      <p:sp>
        <p:nvSpPr>
          <p:cNvPr id="5" name="TextBox 4"/>
          <p:cNvSpPr txBox="1"/>
          <p:nvPr/>
        </p:nvSpPr>
        <p:spPr>
          <a:xfrm>
            <a:off x="640080" y="1143000"/>
            <a:ext cx="5394960" cy="365760"/>
          </a:xfrm>
          <a:prstGeom prst="rect">
            <a:avLst/>
          </a:prstGeom>
          <a:noFill/>
        </p:spPr>
        <p:txBody>
          <a:bodyPr wrap="square" lIns="0" tIns="0" rIns="0" bIns="0" anchor="t">
            <a:spAutoFit/>
          </a:bodyPr>
          <a:lstStyle/>
          <a:p>
            <a:pPr algn="l"/>
            <a:r>
              <a:rPr sz="1600" b="1" i="0">
                <a:solidFill>
                  <a:srgbClr val="C02034"/>
                </a:solidFill>
                <a:latin typeface="Segoe UI Semibold"/>
              </a:rPr>
              <a:t>Vì sao chọn các nhóm đặc trưng này?</a:t>
            </a:r>
          </a:p>
        </p:txBody>
      </p:sp>
      <p:sp>
        <p:nvSpPr>
          <p:cNvPr id="6" name="TextBox 5"/>
          <p:cNvSpPr txBox="1"/>
          <p:nvPr/>
        </p:nvSpPr>
        <p:spPr>
          <a:xfrm>
            <a:off x="640080" y="1600200"/>
            <a:ext cx="5440680" cy="4572000"/>
          </a:xfrm>
          <a:prstGeom prst="rect">
            <a:avLst/>
          </a:prstGeom>
          <a:noFill/>
        </p:spPr>
        <p:txBody>
          <a:bodyPr wrap="square" lIns="0" tIns="0" rIns="0" bIns="0" anchor="t">
            <a:spAutoFit/>
          </a:bodyPr>
          <a:lstStyle/>
          <a:p>
            <a:pPr algn="l">
              <a:lnSpc>
                <a:spcPct val="105000"/>
              </a:lnSpc>
              <a:spcAft>
                <a:spcPts val="800"/>
              </a:spcAft>
            </a:pPr>
            <a:r>
              <a:rPr sz="1350" b="1" i="0">
                <a:solidFill>
                  <a:srgbClr val="C02034"/>
                </a:solidFill>
                <a:latin typeface="Segoe UI"/>
              </a:rPr>
              <a:t>▪  </a:t>
            </a:r>
            <a:r>
              <a:rPr sz="1350" b="0" i="0">
                <a:solidFill>
                  <a:srgbClr val="1C2634"/>
                </a:solidFill>
                <a:latin typeface="Segoe UI"/>
              </a:rPr>
              <a:t>AOD (Himawari + MODIS) — tín hiệu sol khí trực tiếp từ vệ tinh; vì đo theo cột và thưa do mây nên bổ sung thống kê không gian, thống kê theo cửa sổ thời gian và thời gian từ quan sát gần nhất.</a:t>
            </a:r>
          </a:p>
          <a:p>
            <a:pPr algn="l">
              <a:lnSpc>
                <a:spcPct val="105000"/>
              </a:lnSpc>
              <a:spcAft>
                <a:spcPts val="800"/>
              </a:spcAft>
            </a:pPr>
            <a:r>
              <a:rPr sz="1350" b="1" i="0">
                <a:solidFill>
                  <a:srgbClr val="C02034"/>
                </a:solidFill>
                <a:latin typeface="Segoe UI"/>
              </a:rPr>
              <a:t>▪  </a:t>
            </a:r>
            <a:r>
              <a:rPr sz="1350" b="0" i="0">
                <a:solidFill>
                  <a:srgbClr val="1C2634"/>
                </a:solidFill>
                <a:latin typeface="Segoe UI"/>
              </a:rPr>
              <a:t>Khí tượng + PBLH — cơ chế vật lý của tích tụ/khuếch tán: lớp biên thấp + gió yếu ⇒ PM2.5 cao.</a:t>
            </a:r>
          </a:p>
          <a:p>
            <a:pPr algn="l">
              <a:lnSpc>
                <a:spcPct val="105000"/>
              </a:lnSpc>
              <a:spcAft>
                <a:spcPts val="800"/>
              </a:spcAft>
            </a:pPr>
            <a:r>
              <a:rPr sz="1350" b="1" i="0">
                <a:solidFill>
                  <a:srgbClr val="C02034"/>
                </a:solidFill>
                <a:latin typeface="Segoe UI"/>
              </a:rPr>
              <a:t>▪  </a:t>
            </a:r>
            <a:r>
              <a:rPr sz="1350" b="0" i="0">
                <a:solidFill>
                  <a:srgbClr val="1C2634"/>
                </a:solidFill>
                <a:latin typeface="Segoe UI"/>
              </a:rPr>
              <a:t>Khí vết TROPOMI — chỉ dấu nguồn thải: NO₂ giao thông, SO₂ công nghiệp, CO đốt cháy; HCHO liên quan VOC và phản ứng quang hóa.</a:t>
            </a:r>
          </a:p>
          <a:p>
            <a:pPr algn="l">
              <a:lnSpc>
                <a:spcPct val="105000"/>
              </a:lnSpc>
              <a:spcAft>
                <a:spcPts val="800"/>
              </a:spcAft>
            </a:pPr>
            <a:r>
              <a:rPr sz="1350" b="1" i="0">
                <a:solidFill>
                  <a:srgbClr val="C02034"/>
                </a:solidFill>
                <a:latin typeface="Segoe UI"/>
              </a:rPr>
              <a:t>▪  </a:t>
            </a:r>
            <a:r>
              <a:rPr sz="1350" b="0" i="0">
                <a:solidFill>
                  <a:srgbClr val="1C2634"/>
                </a:solidFill>
                <a:latin typeface="Segoe UI"/>
              </a:rPr>
              <a:t>Mưa GPM — mô tả tác động rửa trôi và thời gian tích tụ trong các ngày khô liên tiếp.</a:t>
            </a:r>
          </a:p>
          <a:p>
            <a:pPr algn="l">
              <a:lnSpc>
                <a:spcPct val="105000"/>
              </a:lnSpc>
              <a:spcAft>
                <a:spcPts val="800"/>
              </a:spcAft>
            </a:pPr>
            <a:r>
              <a:rPr sz="1350" b="1" i="0">
                <a:solidFill>
                  <a:srgbClr val="C02034"/>
                </a:solidFill>
                <a:latin typeface="Segoe UI"/>
              </a:rPr>
              <a:t>▪  </a:t>
            </a:r>
            <a:r>
              <a:rPr sz="1350" b="0" i="0">
                <a:solidFill>
                  <a:srgbClr val="1C2634"/>
                </a:solidFill>
                <a:latin typeface="Segoe UI"/>
              </a:rPr>
              <a:t>Chu kỳ sin/cos — biểu diễn liên tục nhịp ngày đêm và mùa, kể cả khi chuyển từ 23h sang 0h.</a:t>
            </a:r>
          </a:p>
          <a:p>
            <a:pPr algn="l">
              <a:lnSpc>
                <a:spcPct val="105000"/>
              </a:lnSpc>
              <a:spcAft>
                <a:spcPts val="800"/>
              </a:spcAft>
            </a:pPr>
            <a:r>
              <a:rPr sz="1350" b="1" i="0">
                <a:solidFill>
                  <a:srgbClr val="C02034"/>
                </a:solidFill>
                <a:latin typeface="Segoe UI"/>
              </a:rPr>
              <a:t>▪  </a:t>
            </a:r>
            <a:r>
              <a:rPr sz="1350" b="1" i="0">
                <a:solidFill>
                  <a:srgbClr val="003366"/>
                </a:solidFill>
                <a:latin typeface="Segoe UI"/>
              </a:rPr>
              <a:t>RFSI — bổ sung PM2.5 gần mặt đất từ mạng trạm; hướng gió hỗ trợ mô tả vận chuyển ô nhiễm.</a:t>
            </a:r>
          </a:p>
        </p:txBody>
      </p:sp>
      <p:sp>
        <p:nvSpPr>
          <p:cNvPr id="7" name="TextBox 6"/>
          <p:cNvSpPr txBox="1"/>
          <p:nvPr/>
        </p:nvSpPr>
        <p:spPr>
          <a:xfrm>
            <a:off x="6400800" y="1143000"/>
            <a:ext cx="5212080" cy="365760"/>
          </a:xfrm>
          <a:prstGeom prst="rect">
            <a:avLst/>
          </a:prstGeom>
          <a:noFill/>
        </p:spPr>
        <p:txBody>
          <a:bodyPr wrap="square" lIns="0" tIns="0" rIns="0" bIns="0" anchor="t">
            <a:spAutoFit/>
          </a:bodyPr>
          <a:lstStyle/>
          <a:p>
            <a:pPr algn="l"/>
            <a:r>
              <a:rPr sz="1600" b="1" i="0">
                <a:solidFill>
                  <a:srgbClr val="C02034"/>
                </a:solidFill>
                <a:latin typeface="Segoe UI Semibold"/>
              </a:rPr>
              <a:t>Vì sao XGBoost (gbtree)?</a:t>
            </a:r>
          </a:p>
        </p:txBody>
      </p:sp>
      <p:sp>
        <p:nvSpPr>
          <p:cNvPr id="8" name="TextBox 7"/>
          <p:cNvSpPr txBox="1"/>
          <p:nvPr/>
        </p:nvSpPr>
        <p:spPr>
          <a:xfrm>
            <a:off x="6400800" y="1600200"/>
            <a:ext cx="5257800" cy="3291840"/>
          </a:xfrm>
          <a:prstGeom prst="rect">
            <a:avLst/>
          </a:prstGeom>
          <a:noFill/>
        </p:spPr>
        <p:txBody>
          <a:bodyPr wrap="square" lIns="0" tIns="0" rIns="0" bIns="0" anchor="t">
            <a:spAutoFit/>
          </a:bodyPr>
          <a:lstStyle/>
          <a:p>
            <a:pPr algn="l">
              <a:lnSpc>
                <a:spcPct val="105000"/>
              </a:lnSpc>
              <a:spcAft>
                <a:spcPts val="800"/>
              </a:spcAft>
            </a:pPr>
            <a:r>
              <a:rPr sz="1350" b="1" i="0">
                <a:solidFill>
                  <a:srgbClr val="C02034"/>
                </a:solidFill>
                <a:latin typeface="Segoe UI"/>
              </a:rPr>
              <a:t>▪  </a:t>
            </a:r>
            <a:r>
              <a:rPr sz="1350" b="0" i="0">
                <a:solidFill>
                  <a:srgbClr val="1C2634"/>
                </a:solidFill>
                <a:latin typeface="Segoe UI"/>
              </a:rPr>
              <a:t>Dữ liệu dạng bảng có nhiều giá trị thiếu (AOD chỉ phủ ~11% số giờ) — cây có thể xử lý trực tiếp mà không cần nội suy để lấp chỗ trống.</a:t>
            </a:r>
          </a:p>
          <a:p>
            <a:pPr algn="l">
              <a:lnSpc>
                <a:spcPct val="105000"/>
              </a:lnSpc>
              <a:spcAft>
                <a:spcPts val="800"/>
              </a:spcAft>
            </a:pPr>
            <a:r>
              <a:rPr sz="1350" b="1" i="0">
                <a:solidFill>
                  <a:srgbClr val="C02034"/>
                </a:solidFill>
                <a:latin typeface="Segoe UI"/>
              </a:rPr>
              <a:t>▪  </a:t>
            </a:r>
            <a:r>
              <a:rPr sz="1350" b="0" i="0">
                <a:solidFill>
                  <a:srgbClr val="1C2634"/>
                </a:solidFill>
                <a:latin typeface="Segoe UI"/>
              </a:rPr>
              <a:t>Quan hệ phi tuyến và tương tác (AOD × PBLH × độ ẩm) — cây tăng cường mô tả tốt hơn mô hình tuyến tính.</a:t>
            </a:r>
          </a:p>
          <a:p>
            <a:pPr algn="l">
              <a:lnSpc>
                <a:spcPct val="105000"/>
              </a:lnSpc>
              <a:spcAft>
                <a:spcPts val="800"/>
              </a:spcAft>
            </a:pPr>
            <a:r>
              <a:rPr sz="1350" b="1" i="0">
                <a:solidFill>
                  <a:srgbClr val="C02034"/>
                </a:solidFill>
                <a:latin typeface="Segoe UI"/>
              </a:rPr>
              <a:t>▪  </a:t>
            </a:r>
            <a:r>
              <a:rPr sz="1350" b="0" i="0">
                <a:solidFill>
                  <a:srgbClr val="1C2634"/>
                </a:solidFill>
                <a:latin typeface="Segoe UI"/>
              </a:rPr>
              <a:t>Mức đóng góp (gain) theo nhóm cho biết mô hình sử dụng nguồn thông tin nào nhiều hơn.</a:t>
            </a:r>
          </a:p>
          <a:p>
            <a:pPr algn="l">
              <a:lnSpc>
                <a:spcPct val="105000"/>
              </a:lnSpc>
              <a:spcAft>
                <a:spcPts val="800"/>
              </a:spcAft>
            </a:pPr>
            <a:r>
              <a:rPr sz="1350" b="1" i="0">
                <a:solidFill>
                  <a:srgbClr val="C02034"/>
                </a:solidFill>
                <a:latin typeface="Segoe UI"/>
              </a:rPr>
              <a:t>▪  </a:t>
            </a:r>
            <a:r>
              <a:rPr sz="1350" b="0" i="0">
                <a:solidFill>
                  <a:srgbClr val="1C2634"/>
                </a:solidFill>
                <a:latin typeface="Segoe UI"/>
              </a:rPr>
              <a:t>log1p(PM2.5) làm mục tiêu, giảm ảnh hưởng các giá trị cực trị.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5A5F69"/>
                </a:solidFill>
                <a:latin typeface="Segoe UI"/>
              </a:rPr>
              <a:t>12</a:t>
            </a:r>
          </a:p>
        </p:txBody>
      </p:sp>
      <p:sp>
        <p:nvSpPr>
          <p:cNvPr id="4" name="TextBox 3"/>
          <p:cNvSpPr txBox="1"/>
          <p:nvPr/>
        </p:nvSpPr>
        <p:spPr>
          <a:xfrm>
            <a:off x="566928" y="91440"/>
            <a:ext cx="11064240" cy="658368"/>
          </a:xfrm>
          <a:prstGeom prst="rect">
            <a:avLst/>
          </a:prstGeom>
          <a:noFill/>
        </p:spPr>
        <p:txBody>
          <a:bodyPr wrap="square" lIns="0" tIns="0" rIns="0" bIns="0" anchor="ctr">
            <a:spAutoFit/>
          </a:bodyPr>
          <a:lstStyle/>
          <a:p>
            <a:pPr algn="l"/>
            <a:r>
              <a:rPr sz="2500" b="1" i="0">
                <a:solidFill>
                  <a:srgbClr val="FFFFFF"/>
                </a:solidFill>
                <a:latin typeface="Segoe UI Semibold"/>
              </a:rPr>
              <a:t>Ba phương án đánh giá</a:t>
            </a:r>
          </a:p>
        </p:txBody>
      </p:sp>
      <p:sp>
        <p:nvSpPr>
          <p:cNvPr id="5" name="Rounded Rectangle 4"/>
          <p:cNvSpPr/>
          <p:nvPr/>
        </p:nvSpPr>
        <p:spPr>
          <a:xfrm>
            <a:off x="566928" y="1325880"/>
            <a:ext cx="3657600" cy="3566160"/>
          </a:xfrm>
          <a:prstGeom prst="roundRect">
            <a:avLst>
              <a:gd name="adj" fmla="val 10000"/>
            </a:avLst>
          </a:prstGeom>
          <a:solidFill>
            <a:srgbClr val="FFFFFF"/>
          </a:solidFill>
          <a:ln w="19050">
            <a:solidFill>
              <a:srgbClr val="0033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325880"/>
            <a:ext cx="3657600" cy="658368"/>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101600" rIns="101600" rtlCol="0" anchor="ctr"/>
          <a:lstStyle/>
          <a:p>
            <a:pPr algn="ctr"/>
            <a:r>
              <a:rPr sz="1550" b="1" i="0">
                <a:solidFill>
                  <a:srgbClr val="FFFFFF"/>
                </a:solidFill>
                <a:latin typeface="Segoe UI Semibold"/>
              </a:rPr>
              <a:t>Chia theo mẫu (KFold)</a:t>
            </a:r>
          </a:p>
        </p:txBody>
      </p:sp>
      <p:sp>
        <p:nvSpPr>
          <p:cNvPr id="7" name="TextBox 6"/>
          <p:cNvSpPr txBox="1"/>
          <p:nvPr/>
        </p:nvSpPr>
        <p:spPr>
          <a:xfrm>
            <a:off x="795528" y="2212848"/>
            <a:ext cx="3200400" cy="1737360"/>
          </a:xfrm>
          <a:prstGeom prst="rect">
            <a:avLst/>
          </a:prstGeom>
          <a:noFill/>
        </p:spPr>
        <p:txBody>
          <a:bodyPr wrap="square" lIns="0" tIns="0" rIns="0" bIns="0" anchor="t">
            <a:spAutoFit/>
          </a:bodyPr>
          <a:lstStyle/>
          <a:p>
            <a:pPr algn="l">
              <a:lnSpc>
                <a:spcPct val="110000"/>
              </a:lnSpc>
            </a:pPr>
            <a:r>
              <a:rPr sz="1450" b="0" i="0">
                <a:solidFill>
                  <a:srgbClr val="1C2634"/>
                </a:solidFill>
                <a:latin typeface="Segoe UI"/>
              </a:rPr>
              <a:t>Tất cả trạm đều dùng để huấn luyện; giữ lại một phần mẫu (giờ) để dự đoán.</a:t>
            </a:r>
          </a:p>
        </p:txBody>
      </p:sp>
      <p:sp>
        <p:nvSpPr>
          <p:cNvPr id="8" name="TextBox 7"/>
          <p:cNvSpPr txBox="1"/>
          <p:nvPr/>
        </p:nvSpPr>
        <p:spPr>
          <a:xfrm>
            <a:off x="795528" y="4069080"/>
            <a:ext cx="3200400" cy="731520"/>
          </a:xfrm>
          <a:prstGeom prst="rect">
            <a:avLst/>
          </a:prstGeom>
          <a:noFill/>
        </p:spPr>
        <p:txBody>
          <a:bodyPr wrap="square" lIns="0" tIns="0" rIns="0" bIns="0" anchor="t">
            <a:spAutoFit/>
          </a:bodyPr>
          <a:lstStyle/>
          <a:p>
            <a:pPr algn="l">
              <a:lnSpc>
                <a:spcPct val="105000"/>
              </a:lnSpc>
            </a:pPr>
            <a:r>
              <a:rPr sz="1300" b="1" i="0">
                <a:solidFill>
                  <a:srgbClr val="003366"/>
                </a:solidFill>
                <a:latin typeface="Segoe UI Semibold"/>
              </a:rPr>
              <a:t>Câu hỏi: dự đoán được PM2.5 theo giờ tại trạm đã biết?</a:t>
            </a:r>
          </a:p>
        </p:txBody>
      </p:sp>
      <p:sp>
        <p:nvSpPr>
          <p:cNvPr id="9" name="Rounded Rectangle 8"/>
          <p:cNvSpPr/>
          <p:nvPr/>
        </p:nvSpPr>
        <p:spPr>
          <a:xfrm>
            <a:off x="4389120" y="1325880"/>
            <a:ext cx="3657600" cy="3566160"/>
          </a:xfrm>
          <a:prstGeom prst="roundRect">
            <a:avLst>
              <a:gd name="adj" fmla="val 10000"/>
            </a:avLst>
          </a:prstGeom>
          <a:solidFill>
            <a:srgbClr val="FFFFFF"/>
          </a:solidFill>
          <a:ln w="19050">
            <a:solidFill>
              <a:srgbClr val="C02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389120" y="1325880"/>
            <a:ext cx="3657600" cy="658368"/>
          </a:xfrm>
          <a:prstGeom prst="roundRect">
            <a:avLst>
              <a:gd name="adj" fmla="val 12000"/>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wrap="square" lIns="101600" rIns="101600" rtlCol="0" anchor="ctr"/>
          <a:lstStyle/>
          <a:p>
            <a:pPr algn="ctr"/>
            <a:r>
              <a:rPr sz="1550" b="1" i="0">
                <a:solidFill>
                  <a:srgbClr val="FFFFFF"/>
                </a:solidFill>
                <a:latin typeface="Segoe UI Semibold"/>
              </a:rPr>
              <a:t>Bỏ một trạm ra (LOSO)</a:t>
            </a:r>
          </a:p>
        </p:txBody>
      </p:sp>
      <p:sp>
        <p:nvSpPr>
          <p:cNvPr id="11" name="TextBox 10"/>
          <p:cNvSpPr txBox="1"/>
          <p:nvPr/>
        </p:nvSpPr>
        <p:spPr>
          <a:xfrm>
            <a:off x="4617720" y="2212848"/>
            <a:ext cx="3200400" cy="1737360"/>
          </a:xfrm>
          <a:prstGeom prst="rect">
            <a:avLst/>
          </a:prstGeom>
          <a:noFill/>
        </p:spPr>
        <p:txBody>
          <a:bodyPr wrap="square" lIns="0" tIns="0" rIns="0" bIns="0" anchor="t">
            <a:spAutoFit/>
          </a:bodyPr>
          <a:lstStyle/>
          <a:p>
            <a:pPr algn="l">
              <a:lnSpc>
                <a:spcPct val="110000"/>
              </a:lnSpc>
            </a:pPr>
            <a:r>
              <a:rPr sz="1450" b="0" i="0">
                <a:solidFill>
                  <a:srgbClr val="1C2634"/>
                </a:solidFill>
                <a:latin typeface="Segoe UI"/>
              </a:rPr>
              <a:t>Giữ toàn bộ một trạm ngoài huấn luyện. Đo khả năng dự đoán cho vị trí mới.</a:t>
            </a:r>
          </a:p>
        </p:txBody>
      </p:sp>
      <p:sp>
        <p:nvSpPr>
          <p:cNvPr id="12" name="TextBox 11"/>
          <p:cNvSpPr txBox="1"/>
          <p:nvPr/>
        </p:nvSpPr>
        <p:spPr>
          <a:xfrm>
            <a:off x="4617720" y="4069080"/>
            <a:ext cx="3200400" cy="731520"/>
          </a:xfrm>
          <a:prstGeom prst="rect">
            <a:avLst/>
          </a:prstGeom>
          <a:noFill/>
        </p:spPr>
        <p:txBody>
          <a:bodyPr wrap="square" lIns="0" tIns="0" rIns="0" bIns="0" anchor="t">
            <a:spAutoFit/>
          </a:bodyPr>
          <a:lstStyle/>
          <a:p>
            <a:pPr algn="l">
              <a:lnSpc>
                <a:spcPct val="105000"/>
              </a:lnSpc>
            </a:pPr>
            <a:r>
              <a:rPr sz="1300" b="1" i="0">
                <a:solidFill>
                  <a:srgbClr val="C02034"/>
                </a:solidFill>
                <a:latin typeface="Segoe UI Semibold"/>
              </a:rPr>
              <a:t>Phương án chính cho bài toán lập bản đồ.</a:t>
            </a:r>
          </a:p>
        </p:txBody>
      </p:sp>
      <p:sp>
        <p:nvSpPr>
          <p:cNvPr id="13" name="Rounded Rectangle 12"/>
          <p:cNvSpPr/>
          <p:nvPr/>
        </p:nvSpPr>
        <p:spPr>
          <a:xfrm>
            <a:off x="8211312" y="1325880"/>
            <a:ext cx="3657600" cy="3566160"/>
          </a:xfrm>
          <a:prstGeom prst="roundRect">
            <a:avLst>
              <a:gd name="adj" fmla="val 10000"/>
            </a:avLst>
          </a:prstGeom>
          <a:solidFill>
            <a:srgbClr val="FFFFFF"/>
          </a:solidFill>
          <a:ln w="19050">
            <a:solidFill>
              <a:srgbClr val="0033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211312" y="1325880"/>
            <a:ext cx="3657600" cy="658368"/>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101600" rIns="101600" rtlCol="0" anchor="ctr"/>
          <a:lstStyle/>
          <a:p>
            <a:pPr algn="ctr"/>
            <a:r>
              <a:rPr sz="1550" b="1" i="0">
                <a:solidFill>
                  <a:srgbClr val="FFFFFF"/>
                </a:solidFill>
                <a:latin typeface="Segoe UI Semibold"/>
              </a:rPr>
              <a:t>LCS + Đại sứ quán</a:t>
            </a:r>
          </a:p>
        </p:txBody>
      </p:sp>
      <p:sp>
        <p:nvSpPr>
          <p:cNvPr id="15" name="TextBox 14"/>
          <p:cNvSpPr txBox="1"/>
          <p:nvPr/>
        </p:nvSpPr>
        <p:spPr>
          <a:xfrm>
            <a:off x="8439912" y="2212848"/>
            <a:ext cx="3200400" cy="1737360"/>
          </a:xfrm>
          <a:prstGeom prst="rect">
            <a:avLst/>
          </a:prstGeom>
          <a:noFill/>
        </p:spPr>
        <p:txBody>
          <a:bodyPr wrap="square" lIns="0" tIns="0" rIns="0" bIns="0" anchor="t">
            <a:spAutoFit/>
          </a:bodyPr>
          <a:lstStyle/>
          <a:p>
            <a:pPr algn="l">
              <a:lnSpc>
                <a:spcPct val="110000"/>
              </a:lnSpc>
            </a:pPr>
            <a:r>
              <a:rPr sz="1450" b="0" i="0">
                <a:solidFill>
                  <a:srgbClr val="1C2634"/>
                </a:solidFill>
                <a:latin typeface="Segoe UI"/>
              </a:rPr>
              <a:t>Mạng LCS và trạm Đại sứ quán, nằm ngoài tập nghiên cứu. Đặc trưng trích tại đúng tọa độ trạm.</a:t>
            </a:r>
          </a:p>
        </p:txBody>
      </p:sp>
      <p:sp>
        <p:nvSpPr>
          <p:cNvPr id="16" name="TextBox 15"/>
          <p:cNvSpPr txBox="1"/>
          <p:nvPr/>
        </p:nvSpPr>
        <p:spPr>
          <a:xfrm>
            <a:off x="8439912" y="4069080"/>
            <a:ext cx="3200400" cy="731520"/>
          </a:xfrm>
          <a:prstGeom prst="rect">
            <a:avLst/>
          </a:prstGeom>
          <a:noFill/>
        </p:spPr>
        <p:txBody>
          <a:bodyPr wrap="square" lIns="0" tIns="0" rIns="0" bIns="0" anchor="t">
            <a:spAutoFit/>
          </a:bodyPr>
          <a:lstStyle/>
          <a:p>
            <a:pPr algn="l">
              <a:lnSpc>
                <a:spcPct val="105000"/>
              </a:lnSpc>
            </a:pPr>
            <a:r>
              <a:rPr sz="1300" b="1" i="0">
                <a:solidFill>
                  <a:srgbClr val="003366"/>
                </a:solidFill>
                <a:latin typeface="Segoe UI Semibold"/>
              </a:rPr>
              <a:t>Dùng để đánh giá bổ sung sau khi cấu hình đã được lựa chọn bằng LOSO.</a:t>
            </a:r>
          </a:p>
        </p:txBody>
      </p:sp>
      <p:sp>
        <p:nvSpPr>
          <p:cNvPr id="17" name="Rounded Rectangle 16"/>
          <p:cNvSpPr/>
          <p:nvPr/>
        </p:nvSpPr>
        <p:spPr>
          <a:xfrm>
            <a:off x="566928" y="5120640"/>
            <a:ext cx="11064240" cy="960120"/>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66928" y="5120640"/>
            <a:ext cx="82296" cy="960120"/>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4672" y="5230368"/>
            <a:ext cx="10680192" cy="758952"/>
          </a:xfrm>
          <a:prstGeom prst="rect">
            <a:avLst/>
          </a:prstGeom>
          <a:noFill/>
        </p:spPr>
        <p:txBody>
          <a:bodyPr wrap="square" lIns="0" tIns="0" rIns="0" bIns="0" anchor="ctr">
            <a:spAutoFit/>
          </a:bodyPr>
          <a:lstStyle/>
          <a:p>
            <a:pPr algn="l">
              <a:spcAft>
                <a:spcPts val="400"/>
              </a:spcAft>
            </a:pPr>
            <a:r>
              <a:rPr sz="1200" b="1" i="0">
                <a:solidFill>
                  <a:srgbClr val="003366"/>
                </a:solidFill>
                <a:latin typeface="Segoe UI Semibold"/>
              </a:rPr>
              <a:t>Ý nghĩa</a:t>
            </a:r>
          </a:p>
          <a:p>
            <a:pPr algn="l">
              <a:lnSpc>
                <a:spcPct val="108000"/>
              </a:lnSpc>
            </a:pPr>
            <a:r>
              <a:rPr sz="1500" b="0" i="0">
                <a:solidFill>
                  <a:srgbClr val="1C2634"/>
                </a:solidFill>
                <a:latin typeface="Segoe UI"/>
              </a:rPr>
              <a:t>Dự đoán PM2.5 tại trạm đã biết khác với suy ra mức nền ô nhiễm của một vị trí mới (LOSO) — hai năng lực phải được báo cáo riêng.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nav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96AAC3"/>
                </a:solidFill>
                <a:latin typeface="Segoe UI"/>
              </a:rPr>
              <a:t>13</a:t>
            </a:r>
          </a:p>
        </p:txBody>
      </p:sp>
      <p:pic>
        <p:nvPicPr>
          <p:cNvPr id="4" name="Picture 3" descr="logo_white.png"/>
          <p:cNvPicPr>
            <a:picLocks noChangeAspect="1"/>
          </p:cNvPicPr>
          <p:nvPr/>
        </p:nvPicPr>
        <p:blipFill>
          <a:blip r:embed="rId3"/>
          <a:stretch>
            <a:fillRect/>
          </a:stretch>
        </p:blipFill>
        <p:spPr>
          <a:xfrm>
            <a:off x="566928" y="502920"/>
            <a:ext cx="1443089" cy="566928"/>
          </a:xfrm>
          <a:prstGeom prst="rect">
            <a:avLst/>
          </a:prstGeom>
        </p:spPr>
      </p:pic>
      <p:sp>
        <p:nvSpPr>
          <p:cNvPr id="5" name="TextBox 4"/>
          <p:cNvSpPr txBox="1"/>
          <p:nvPr/>
        </p:nvSpPr>
        <p:spPr>
          <a:xfrm>
            <a:off x="603504" y="2331720"/>
            <a:ext cx="2011680" cy="1463040"/>
          </a:xfrm>
          <a:prstGeom prst="rect">
            <a:avLst/>
          </a:prstGeom>
          <a:noFill/>
        </p:spPr>
        <p:txBody>
          <a:bodyPr wrap="square" lIns="0" tIns="0" rIns="0" bIns="0" anchor="ctr">
            <a:spAutoFit/>
          </a:bodyPr>
          <a:lstStyle/>
          <a:p>
            <a:pPr algn="l"/>
            <a:r>
              <a:rPr sz="9600" b="1" i="0">
                <a:solidFill>
                  <a:srgbClr val="FFFFFF"/>
                </a:solidFill>
                <a:latin typeface="Segoe UI Semibold"/>
              </a:rPr>
              <a:t>2</a:t>
            </a:r>
          </a:p>
        </p:txBody>
      </p:sp>
      <p:cxnSp>
        <p:nvCxnSpPr>
          <p:cNvPr id="6" name="Connector 5"/>
          <p:cNvCxnSpPr/>
          <p:nvPr/>
        </p:nvCxnSpPr>
        <p:spPr>
          <a:xfrm>
            <a:off x="2697480" y="3154680"/>
            <a:ext cx="18288" cy="0"/>
          </a:xfrm>
          <a:prstGeom prst="bentConnector3">
            <a:avLst/>
          </a:prstGeom>
          <a:ln>
            <a:solidFill>
              <a:srgbClr val="C0203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2468880"/>
            <a:ext cx="0" cy="1508759"/>
          </a:xfrm>
          <a:prstGeom prst="bentConnector3">
            <a:avLst/>
          </a:prstGeom>
          <a:ln w="31750">
            <a:solidFill>
              <a:srgbClr val="C02034"/>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017520" y="2331720"/>
            <a:ext cx="8229600" cy="1554480"/>
          </a:xfrm>
          <a:prstGeom prst="rect">
            <a:avLst/>
          </a:prstGeom>
          <a:noFill/>
        </p:spPr>
        <p:txBody>
          <a:bodyPr wrap="square" lIns="0" tIns="0" rIns="0" bIns="0" anchor="ctr">
            <a:spAutoFit/>
          </a:bodyPr>
          <a:lstStyle/>
          <a:p>
            <a:pPr algn="l"/>
            <a:r>
              <a:rPr sz="3600" b="1" i="0">
                <a:solidFill>
                  <a:srgbClr val="FFFFFF"/>
                </a:solidFill>
                <a:latin typeface="Segoe UI Semibold"/>
              </a:rPr>
              <a:t>Ước tính toàn quốc</a:t>
            </a:r>
          </a:p>
          <a:p>
            <a:pPr algn="l">
              <a:lnSpc>
                <a:spcPct val="110000"/>
              </a:lnSpc>
              <a:spcBef>
                <a:spcPts val="1000"/>
              </a:spcBef>
            </a:pPr>
            <a:r>
              <a:rPr sz="1700" b="0" i="0">
                <a:solidFill>
                  <a:srgbClr val="BED2E6"/>
                </a:solidFill>
                <a:latin typeface="Segoe UI"/>
              </a:rPr>
              <a:t>Dự đoán tại trạm không tham gia huấn luyện: sai số tăng rõ rệt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5A5F69"/>
                </a:solidFill>
                <a:latin typeface="Segoe UI"/>
              </a:rPr>
              <a:t>14</a:t>
            </a:r>
          </a:p>
        </p:txBody>
      </p:sp>
      <p:sp>
        <p:nvSpPr>
          <p:cNvPr id="4" name="TextBox 3"/>
          <p:cNvSpPr txBox="1"/>
          <p:nvPr/>
        </p:nvSpPr>
        <p:spPr>
          <a:xfrm>
            <a:off x="566928" y="91440"/>
            <a:ext cx="11064240" cy="658368"/>
          </a:xfrm>
          <a:prstGeom prst="rect">
            <a:avLst/>
          </a:prstGeom>
          <a:noFill/>
        </p:spPr>
        <p:txBody>
          <a:bodyPr wrap="square" lIns="0" tIns="0" rIns="0" bIns="0" anchor="ctr">
            <a:spAutoFit/>
          </a:bodyPr>
          <a:lstStyle/>
          <a:p>
            <a:pPr algn="l"/>
            <a:r>
              <a:rPr sz="2500" b="1" i="0">
                <a:solidFill>
                  <a:srgbClr val="FFFFFF"/>
                </a:solidFill>
                <a:latin typeface="Segoe UI Semibold"/>
              </a:rPr>
              <a:t>Ước tính toàn quốc: chia theo mẫu tốt, LOSO còn yếu</a:t>
            </a:r>
          </a:p>
        </p:txBody>
      </p:sp>
      <p:sp>
        <p:nvSpPr>
          <p:cNvPr id="5" name="Rounded Rectangle 4"/>
          <p:cNvSpPr/>
          <p:nvPr/>
        </p:nvSpPr>
        <p:spPr>
          <a:xfrm>
            <a:off x="640080" y="1234440"/>
            <a:ext cx="3383280" cy="1143000"/>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234440"/>
            <a:ext cx="82296" cy="1143000"/>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8" y="1362456"/>
            <a:ext cx="3072384" cy="923544"/>
          </a:xfrm>
          <a:prstGeom prst="rect">
            <a:avLst/>
          </a:prstGeom>
          <a:noFill/>
        </p:spPr>
        <p:txBody>
          <a:bodyPr wrap="square" lIns="0" tIns="0" rIns="0" bIns="0" anchor="ctr">
            <a:spAutoFit/>
          </a:bodyPr>
          <a:lstStyle/>
          <a:p>
            <a:pPr algn="l"/>
            <a:r>
              <a:rPr sz="2600" b="1" i="0">
                <a:solidFill>
                  <a:srgbClr val="003366"/>
                </a:solidFill>
                <a:latin typeface="Segoe UI Semibold"/>
              </a:rPr>
              <a:t>0,780</a:t>
            </a:r>
          </a:p>
          <a:p>
            <a:pPr algn="l">
              <a:lnSpc>
                <a:spcPct val="100000"/>
              </a:lnSpc>
              <a:spcBef>
                <a:spcPts val="200"/>
              </a:spcBef>
            </a:pPr>
            <a:r>
              <a:rPr sz="1200" b="0" i="0">
                <a:solidFill>
                  <a:srgbClr val="5A5F69"/>
                </a:solidFill>
                <a:latin typeface="Segoe UI"/>
              </a:rPr>
              <a:t>Chia theo mẫu (KFold) — R² gộp</a:t>
            </a:r>
          </a:p>
        </p:txBody>
      </p:sp>
      <p:sp>
        <p:nvSpPr>
          <p:cNvPr id="8" name="Rounded Rectangle 7"/>
          <p:cNvSpPr/>
          <p:nvPr/>
        </p:nvSpPr>
        <p:spPr>
          <a:xfrm>
            <a:off x="4160520" y="1234440"/>
            <a:ext cx="3383280" cy="1143000"/>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160520" y="1234440"/>
            <a:ext cx="82296" cy="1143000"/>
          </a:xfrm>
          <a:prstGeom prst="roundRect">
            <a:avLst>
              <a:gd name="adj" fmla="val 50000"/>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61688" y="1362456"/>
            <a:ext cx="3072384" cy="923544"/>
          </a:xfrm>
          <a:prstGeom prst="rect">
            <a:avLst/>
          </a:prstGeom>
          <a:noFill/>
        </p:spPr>
        <p:txBody>
          <a:bodyPr wrap="square" lIns="0" tIns="0" rIns="0" bIns="0" anchor="ctr">
            <a:spAutoFit/>
          </a:bodyPr>
          <a:lstStyle/>
          <a:p>
            <a:pPr algn="l"/>
            <a:r>
              <a:rPr sz="2600" b="1" i="0">
                <a:solidFill>
                  <a:srgbClr val="C02034"/>
                </a:solidFill>
                <a:latin typeface="Segoe UI Semibold"/>
              </a:rPr>
              <a:t>0,290</a:t>
            </a:r>
          </a:p>
          <a:p>
            <a:pPr algn="l">
              <a:lnSpc>
                <a:spcPct val="100000"/>
              </a:lnSpc>
              <a:spcBef>
                <a:spcPts val="200"/>
              </a:spcBef>
            </a:pPr>
            <a:r>
              <a:rPr sz="1200" b="0" i="0">
                <a:solidFill>
                  <a:srgbClr val="5A5F69"/>
                </a:solidFill>
                <a:latin typeface="Segoe UI"/>
              </a:rPr>
              <a:t>LOSO toàn quốc — R² gộp</a:t>
            </a:r>
          </a:p>
        </p:txBody>
      </p:sp>
      <p:sp>
        <p:nvSpPr>
          <p:cNvPr id="11" name="Rounded Rectangle 10"/>
          <p:cNvSpPr/>
          <p:nvPr/>
        </p:nvSpPr>
        <p:spPr>
          <a:xfrm>
            <a:off x="7680960" y="1234440"/>
            <a:ext cx="3886200" cy="1143000"/>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680960" y="1234440"/>
            <a:ext cx="82296" cy="1143000"/>
          </a:xfrm>
          <a:prstGeom prst="roundRect">
            <a:avLst>
              <a:gd name="adj" fmla="val 50000"/>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82128" y="1362456"/>
            <a:ext cx="3575304" cy="923544"/>
          </a:xfrm>
          <a:prstGeom prst="rect">
            <a:avLst/>
          </a:prstGeom>
          <a:noFill/>
        </p:spPr>
        <p:txBody>
          <a:bodyPr wrap="square" lIns="0" tIns="0" rIns="0" bIns="0" anchor="ctr">
            <a:spAutoFit/>
          </a:bodyPr>
          <a:lstStyle/>
          <a:p>
            <a:pPr algn="l"/>
            <a:r>
              <a:rPr sz="2600" b="1" i="0">
                <a:solidFill>
                  <a:srgbClr val="C02034"/>
                </a:solidFill>
                <a:latin typeface="Segoe UI Semibold"/>
              </a:rPr>
              <a:t>−0,139</a:t>
            </a:r>
          </a:p>
          <a:p>
            <a:pPr algn="l">
              <a:lnSpc>
                <a:spcPct val="100000"/>
              </a:lnSpc>
              <a:spcBef>
                <a:spcPts val="200"/>
              </a:spcBef>
            </a:pPr>
            <a:r>
              <a:rPr sz="1200" b="0" i="0">
                <a:solidFill>
                  <a:srgbClr val="5A5F69"/>
                </a:solidFill>
                <a:latin typeface="Segoe UI"/>
              </a:rPr>
              <a:t>LOSO toàn quốc — R² TB theo trạm</a:t>
            </a:r>
          </a:p>
        </p:txBody>
      </p:sp>
      <p:graphicFrame>
        <p:nvGraphicFramePr>
          <p:cNvPr id="14" name="Table 13"/>
          <p:cNvGraphicFramePr>
            <a:graphicFrameLocks noGrp="1"/>
          </p:cNvGraphicFramePr>
          <p:nvPr/>
        </p:nvGraphicFramePr>
        <p:xfrm>
          <a:off x="640080" y="2697480"/>
          <a:ext cx="6858000" cy="2577592"/>
        </p:xfrm>
        <a:graphic>
          <a:graphicData uri="http://schemas.openxmlformats.org/drawingml/2006/table">
            <a:tbl>
              <a:tblPr>
                <a:tableStyleId>{5C22544A-7EE6-4342-B048-85BDC9FD1C3A}</a:tableStyleId>
              </a:tblPr>
              <a:tblGrid>
                <a:gridCol w="26974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365760">
                <a:tc>
                  <a:txBody>
                    <a:bodyPr/>
                    <a:lstStyle/>
                    <a:p>
                      <a:pPr algn="l"/>
                      <a:r>
                        <a:rPr sz="1150" b="1" i="0">
                          <a:solidFill>
                            <a:srgbClr val="FFFFFF"/>
                          </a:solidFill>
                          <a:latin typeface="Segoe UI Semibold"/>
                        </a:rPr>
                        <a:t>Cấu hình (LOSO)</a:t>
                      </a:r>
                    </a:p>
                  </a:txBody>
                  <a:tcPr marL="76200" marR="76200" marT="25400" marB="25400" anchor="ctr">
                    <a:solidFill>
                      <a:srgbClr val="003366"/>
                    </a:solidFill>
                  </a:tcPr>
                </a:tc>
                <a:tc>
                  <a:txBody>
                    <a:bodyPr/>
                    <a:lstStyle/>
                    <a:p>
                      <a:pPr algn="ctr"/>
                      <a:r>
                        <a:rPr sz="1150" b="1" i="0">
                          <a:solidFill>
                            <a:srgbClr val="FFFFFF"/>
                          </a:solidFill>
                          <a:latin typeface="Segoe UI Semibold"/>
                        </a:rPr>
                        <a:t>Triển khai?</a:t>
                      </a:r>
                    </a:p>
                  </a:txBody>
                  <a:tcPr marL="76200" marR="76200" marT="25400" marB="25400" anchor="ctr">
                    <a:solidFill>
                      <a:srgbClr val="003366"/>
                    </a:solidFill>
                  </a:tcPr>
                </a:tc>
                <a:tc>
                  <a:txBody>
                    <a:bodyPr/>
                    <a:lstStyle/>
                    <a:p>
                      <a:pPr algn="ctr"/>
                      <a:r>
                        <a:rPr sz="1150" b="1" i="0">
                          <a:solidFill>
                            <a:srgbClr val="FFFFFF"/>
                          </a:solidFill>
                          <a:latin typeface="Segoe UI Semibold"/>
                        </a:rPr>
                        <a:t>R² gộp</a:t>
                      </a:r>
                    </a:p>
                  </a:txBody>
                  <a:tcPr marL="76200" marR="76200" marT="25400" marB="25400" anchor="ctr">
                    <a:solidFill>
                      <a:srgbClr val="003366"/>
                    </a:solidFill>
                  </a:tcPr>
                </a:tc>
                <a:tc>
                  <a:txBody>
                    <a:bodyPr/>
                    <a:lstStyle/>
                    <a:p>
                      <a:pPr algn="ctr"/>
                      <a:r>
                        <a:rPr sz="1150" b="1" i="0">
                          <a:solidFill>
                            <a:srgbClr val="FFFFFF"/>
                          </a:solidFill>
                          <a:latin typeface="Segoe UI Semibold"/>
                        </a:rPr>
                        <a:t>R² TB trạm</a:t>
                      </a:r>
                    </a:p>
                  </a:txBody>
                  <a:tcPr marL="76200" marR="76200" marT="25400" marB="25400" anchor="ctr">
                    <a:solidFill>
                      <a:srgbClr val="003366"/>
                    </a:solidFill>
                  </a:tcPr>
                </a:tc>
                <a:tc>
                  <a:txBody>
                    <a:bodyPr/>
                    <a:lstStyle/>
                    <a:p>
                      <a:pPr algn="ctr"/>
                      <a:r>
                        <a:rPr sz="1150" b="1" i="0">
                          <a:solidFill>
                            <a:srgbClr val="FFFFFF"/>
                          </a:solidFill>
                          <a:latin typeface="Segoe UI Semibold"/>
                        </a:rPr>
                        <a:t>R² dương</a:t>
                      </a:r>
                    </a:p>
                  </a:txBody>
                  <a:tcPr marL="76200" marR="76200" marT="25400" marB="25400" anchor="ctr">
                    <a:solidFill>
                      <a:srgbClr val="003366"/>
                    </a:solidFill>
                  </a:tcPr>
                </a:tc>
                <a:extLst>
                  <a:ext uri="{0D108BD9-81ED-4DB2-BD59-A6C34878D82A}">
                    <a16:rowId xmlns:a16="http://schemas.microsoft.com/office/drawing/2014/main" val="10000"/>
                  </a:ext>
                </a:extLst>
              </a:tr>
              <a:tr h="310896">
                <a:tc>
                  <a:txBody>
                    <a:bodyPr/>
                    <a:lstStyle/>
                    <a:p>
                      <a:pPr algn="l"/>
                      <a:r>
                        <a:rPr sz="1250" b="1" i="0">
                          <a:solidFill>
                            <a:srgbClr val="1C2634"/>
                          </a:solidFill>
                          <a:latin typeface="Segoe UI"/>
                        </a:rPr>
                        <a:t>Mô hình chung</a:t>
                      </a:r>
                    </a:p>
                  </a:txBody>
                  <a:tcPr marL="76200" marR="76200" marT="12700" marB="12700" anchor="ctr">
                    <a:solidFill>
                      <a:srgbClr val="FFFFFF"/>
                    </a:solidFill>
                  </a:tcPr>
                </a:tc>
                <a:tc>
                  <a:txBody>
                    <a:bodyPr/>
                    <a:lstStyle/>
                    <a:p>
                      <a:pPr algn="ctr"/>
                      <a:r>
                        <a:rPr sz="1250" b="0" i="0">
                          <a:solidFill>
                            <a:srgbClr val="1C2634"/>
                          </a:solidFill>
                          <a:latin typeface="Segoe UI"/>
                        </a:rPr>
                        <a:t>Có</a:t>
                      </a:r>
                    </a:p>
                  </a:txBody>
                  <a:tcPr marL="76200" marR="76200" marT="12700" marB="12700" anchor="ctr">
                    <a:solidFill>
                      <a:srgbClr val="FFFFFF"/>
                    </a:solidFill>
                  </a:tcPr>
                </a:tc>
                <a:tc>
                  <a:txBody>
                    <a:bodyPr/>
                    <a:lstStyle/>
                    <a:p>
                      <a:pPr algn="ctr"/>
                      <a:r>
                        <a:rPr sz="1250" b="0" i="0">
                          <a:solidFill>
                            <a:srgbClr val="1C2634"/>
                          </a:solidFill>
                          <a:latin typeface="Segoe UI"/>
                        </a:rPr>
                        <a:t>0,290</a:t>
                      </a:r>
                    </a:p>
                  </a:txBody>
                  <a:tcPr marL="76200" marR="76200" marT="12700" marB="12700" anchor="ctr">
                    <a:solidFill>
                      <a:srgbClr val="FFFFFF"/>
                    </a:solidFill>
                  </a:tcPr>
                </a:tc>
                <a:tc>
                  <a:txBody>
                    <a:bodyPr/>
                    <a:lstStyle/>
                    <a:p>
                      <a:pPr algn="ctr"/>
                      <a:r>
                        <a:rPr sz="1250" b="0" i="0">
                          <a:solidFill>
                            <a:srgbClr val="1C2634"/>
                          </a:solidFill>
                          <a:latin typeface="Segoe UI"/>
                        </a:rPr>
                        <a:t>−0,139</a:t>
                      </a:r>
                    </a:p>
                  </a:txBody>
                  <a:tcPr marL="76200" marR="76200" marT="12700" marB="12700" anchor="ctr">
                    <a:solidFill>
                      <a:srgbClr val="FFFFFF"/>
                    </a:solidFill>
                  </a:tcPr>
                </a:tc>
                <a:tc>
                  <a:txBody>
                    <a:bodyPr/>
                    <a:lstStyle/>
                    <a:p>
                      <a:pPr algn="ctr"/>
                      <a:r>
                        <a:rPr sz="1250" b="0" i="0">
                          <a:solidFill>
                            <a:srgbClr val="1C2634"/>
                          </a:solidFill>
                          <a:latin typeface="Segoe UI"/>
                        </a:rPr>
                        <a:t>57,5%</a:t>
                      </a:r>
                    </a:p>
                  </a:txBody>
                  <a:tcPr marL="76200" marR="76200" marT="12700" marB="12700" anchor="ctr">
                    <a:solidFill>
                      <a:srgbClr val="FFFFFF"/>
                    </a:solidFill>
                  </a:tcPr>
                </a:tc>
                <a:extLst>
                  <a:ext uri="{0D108BD9-81ED-4DB2-BD59-A6C34878D82A}">
                    <a16:rowId xmlns:a16="http://schemas.microsoft.com/office/drawing/2014/main" val="10001"/>
                  </a:ext>
                </a:extLst>
              </a:tr>
              <a:tr h="310896">
                <a:tc>
                  <a:txBody>
                    <a:bodyPr/>
                    <a:lstStyle/>
                    <a:p>
                      <a:pPr algn="l"/>
                      <a:r>
                        <a:rPr sz="1250" b="1" i="0">
                          <a:solidFill>
                            <a:srgbClr val="1C2634"/>
                          </a:solidFill>
                          <a:latin typeface="Segoe UI"/>
                        </a:rPr>
                        <a:t>Nhóm theo địa lý</a:t>
                      </a:r>
                    </a:p>
                  </a:txBody>
                  <a:tcPr marL="76200" marR="76200" marT="12700" marB="12700" anchor="ctr">
                    <a:solidFill>
                      <a:srgbClr val="EEF2F7"/>
                    </a:solidFill>
                  </a:tcPr>
                </a:tc>
                <a:tc>
                  <a:txBody>
                    <a:bodyPr/>
                    <a:lstStyle/>
                    <a:p>
                      <a:pPr algn="ctr"/>
                      <a:r>
                        <a:rPr sz="1250" b="0" i="0">
                          <a:solidFill>
                            <a:srgbClr val="1C2634"/>
                          </a:solidFill>
                          <a:latin typeface="Segoe UI"/>
                        </a:rPr>
                        <a:t>Có</a:t>
                      </a:r>
                    </a:p>
                  </a:txBody>
                  <a:tcPr marL="76200" marR="76200" marT="12700" marB="12700" anchor="ctr">
                    <a:solidFill>
                      <a:srgbClr val="EEF2F7"/>
                    </a:solidFill>
                  </a:tcPr>
                </a:tc>
                <a:tc>
                  <a:txBody>
                    <a:bodyPr/>
                    <a:lstStyle/>
                    <a:p>
                      <a:pPr algn="ctr"/>
                      <a:r>
                        <a:rPr sz="1250" b="0" i="0">
                          <a:solidFill>
                            <a:srgbClr val="1C2634"/>
                          </a:solidFill>
                          <a:latin typeface="Segoe UI"/>
                        </a:rPr>
                        <a:t>0,309</a:t>
                      </a:r>
                    </a:p>
                  </a:txBody>
                  <a:tcPr marL="76200" marR="76200" marT="12700" marB="12700" anchor="ctr">
                    <a:solidFill>
                      <a:srgbClr val="EEF2F7"/>
                    </a:solidFill>
                  </a:tcPr>
                </a:tc>
                <a:tc>
                  <a:txBody>
                    <a:bodyPr/>
                    <a:lstStyle/>
                    <a:p>
                      <a:pPr algn="ctr"/>
                      <a:r>
                        <a:rPr sz="1250" b="0" i="0">
                          <a:solidFill>
                            <a:srgbClr val="1C2634"/>
                          </a:solidFill>
                          <a:latin typeface="Segoe UI"/>
                        </a:rPr>
                        <a:t>−0,031</a:t>
                      </a:r>
                    </a:p>
                  </a:txBody>
                  <a:tcPr marL="76200" marR="76200" marT="12700" marB="12700" anchor="ctr">
                    <a:solidFill>
                      <a:srgbClr val="EEF2F7"/>
                    </a:solidFill>
                  </a:tcPr>
                </a:tc>
                <a:tc>
                  <a:txBody>
                    <a:bodyPr/>
                    <a:lstStyle/>
                    <a:p>
                      <a:pPr algn="ctr"/>
                      <a:r>
                        <a:rPr sz="1250" b="0" i="0">
                          <a:solidFill>
                            <a:srgbClr val="1C2634"/>
                          </a:solidFill>
                          <a:latin typeface="Segoe UI"/>
                        </a:rPr>
                        <a:t>55,0%</a:t>
                      </a:r>
                    </a:p>
                  </a:txBody>
                  <a:tcPr marL="76200" marR="76200" marT="12700" marB="12700" anchor="ctr">
                    <a:solidFill>
                      <a:srgbClr val="EEF2F7"/>
                    </a:solidFill>
                  </a:tcPr>
                </a:tc>
                <a:extLst>
                  <a:ext uri="{0D108BD9-81ED-4DB2-BD59-A6C34878D82A}">
                    <a16:rowId xmlns:a16="http://schemas.microsoft.com/office/drawing/2014/main" val="10002"/>
                  </a:ext>
                </a:extLst>
              </a:tr>
              <a:tr h="310896">
                <a:tc>
                  <a:txBody>
                    <a:bodyPr/>
                    <a:lstStyle/>
                    <a:p>
                      <a:pPr algn="l"/>
                      <a:r>
                        <a:rPr sz="1250" b="1" i="0">
                          <a:solidFill>
                            <a:srgbClr val="C02034"/>
                          </a:solidFill>
                          <a:latin typeface="Segoe UI Semibold"/>
                        </a:rPr>
                        <a:t>Nhóm theo độ ô nhiễm thật</a:t>
                      </a:r>
                    </a:p>
                  </a:txBody>
                  <a:tcPr marL="76200" marR="76200" marT="12700" marB="12700" anchor="ctr">
                    <a:solidFill>
                      <a:srgbClr val="FCF0F2"/>
                    </a:solidFill>
                  </a:tcPr>
                </a:tc>
                <a:tc>
                  <a:txBody>
                    <a:bodyPr/>
                    <a:lstStyle/>
                    <a:p>
                      <a:pPr algn="ctr"/>
                      <a:r>
                        <a:rPr sz="1250" b="1" i="0">
                          <a:solidFill>
                            <a:srgbClr val="1C2634"/>
                          </a:solidFill>
                          <a:latin typeface="Segoe UI Semibold"/>
                        </a:rPr>
                        <a:t>Không</a:t>
                      </a:r>
                    </a:p>
                  </a:txBody>
                  <a:tcPr marL="76200" marR="76200" marT="12700" marB="12700" anchor="ctr">
                    <a:solidFill>
                      <a:srgbClr val="FCF0F2"/>
                    </a:solidFill>
                  </a:tcPr>
                </a:tc>
                <a:tc>
                  <a:txBody>
                    <a:bodyPr/>
                    <a:lstStyle/>
                    <a:p>
                      <a:pPr algn="ctr"/>
                      <a:r>
                        <a:rPr sz="1250" b="1" i="0">
                          <a:solidFill>
                            <a:srgbClr val="1C2634"/>
                          </a:solidFill>
                          <a:latin typeface="Segoe UI Semibold"/>
                        </a:rPr>
                        <a:t>0,481</a:t>
                      </a:r>
                    </a:p>
                  </a:txBody>
                  <a:tcPr marL="76200" marR="76200" marT="12700" marB="12700" anchor="ctr">
                    <a:solidFill>
                      <a:srgbClr val="FCF0F2"/>
                    </a:solidFill>
                  </a:tcPr>
                </a:tc>
                <a:tc>
                  <a:txBody>
                    <a:bodyPr/>
                    <a:lstStyle/>
                    <a:p>
                      <a:pPr algn="ctr"/>
                      <a:r>
                        <a:rPr sz="1250" b="1" i="0">
                          <a:solidFill>
                            <a:srgbClr val="1C2634"/>
                          </a:solidFill>
                          <a:latin typeface="Segoe UI Semibold"/>
                        </a:rPr>
                        <a:t>0,118</a:t>
                      </a:r>
                    </a:p>
                  </a:txBody>
                  <a:tcPr marL="76200" marR="76200" marT="12700" marB="12700" anchor="ctr">
                    <a:solidFill>
                      <a:srgbClr val="FCF0F2"/>
                    </a:solidFill>
                  </a:tcPr>
                </a:tc>
                <a:tc>
                  <a:txBody>
                    <a:bodyPr/>
                    <a:lstStyle/>
                    <a:p>
                      <a:pPr algn="ctr"/>
                      <a:r>
                        <a:rPr sz="1250" b="1" i="0">
                          <a:solidFill>
                            <a:srgbClr val="1C2634"/>
                          </a:solidFill>
                          <a:latin typeface="Segoe UI Semibold"/>
                        </a:rPr>
                        <a:t>75,0%</a:t>
                      </a:r>
                    </a:p>
                  </a:txBody>
                  <a:tcPr marL="76200" marR="76200" marT="12700" marB="12700" anchor="ctr">
                    <a:solidFill>
                      <a:srgbClr val="FCF0F2"/>
                    </a:solidFill>
                  </a:tcPr>
                </a:tc>
                <a:extLst>
                  <a:ext uri="{0D108BD9-81ED-4DB2-BD59-A6C34878D82A}">
                    <a16:rowId xmlns:a16="http://schemas.microsoft.com/office/drawing/2014/main" val="10003"/>
                  </a:ext>
                </a:extLst>
              </a:tr>
              <a:tr h="310896">
                <a:tc>
                  <a:txBody>
                    <a:bodyPr/>
                    <a:lstStyle/>
                    <a:p>
                      <a:pPr algn="l"/>
                      <a:r>
                        <a:rPr sz="1100" b="0" i="0">
                          <a:solidFill>
                            <a:srgbClr val="5A5F69"/>
                          </a:solidFill>
                          <a:latin typeface="Segoe UI"/>
                        </a:rPr>
                        <a:t>     &lt; 10 µg/m³ (8 trạm)</a:t>
                      </a:r>
                    </a:p>
                  </a:txBody>
                  <a:tcPr marL="76200" marR="76200" marT="12700" marB="12700" anchor="ctr">
                    <a:solidFill>
                      <a:srgbClr val="EEF2F7"/>
                    </a:solidFill>
                  </a:tcPr>
                </a:tc>
                <a:tc>
                  <a:txBody>
                    <a:bodyPr/>
                    <a:lstStyle/>
                    <a:p>
                      <a:pPr algn="ctr"/>
                      <a:endParaRPr/>
                    </a:p>
                  </a:txBody>
                  <a:tcPr marL="76200" marR="76200" marT="12700" marB="12700" anchor="ctr">
                    <a:solidFill>
                      <a:srgbClr val="EEF2F7"/>
                    </a:solidFill>
                  </a:tcPr>
                </a:tc>
                <a:tc>
                  <a:txBody>
                    <a:bodyPr/>
                    <a:lstStyle/>
                    <a:p>
                      <a:pPr algn="ctr"/>
                      <a:r>
                        <a:rPr sz="1100" b="0" i="0">
                          <a:solidFill>
                            <a:srgbClr val="5A5F69"/>
                          </a:solidFill>
                          <a:latin typeface="Segoe UI"/>
                        </a:rPr>
                        <a:t>−0,13</a:t>
                      </a:r>
                    </a:p>
                  </a:txBody>
                  <a:tcPr marL="76200" marR="76200" marT="12700" marB="12700" anchor="ctr">
                    <a:solidFill>
                      <a:srgbClr val="EEF2F7"/>
                    </a:solidFill>
                  </a:tcPr>
                </a:tc>
                <a:tc>
                  <a:txBody>
                    <a:bodyPr/>
                    <a:lstStyle/>
                    <a:p>
                      <a:pPr algn="ctr"/>
                      <a:r>
                        <a:rPr sz="1100" b="0" i="0">
                          <a:solidFill>
                            <a:srgbClr val="5A5F69"/>
                          </a:solidFill>
                          <a:latin typeface="Segoe UI"/>
                        </a:rPr>
                        <a:t>−0,13</a:t>
                      </a:r>
                    </a:p>
                  </a:txBody>
                  <a:tcPr marL="76200" marR="76200" marT="12700" marB="12700" anchor="ctr">
                    <a:solidFill>
                      <a:srgbClr val="EEF2F7"/>
                    </a:solidFill>
                  </a:tcPr>
                </a:tc>
                <a:tc>
                  <a:txBody>
                    <a:bodyPr/>
                    <a:lstStyle/>
                    <a:p>
                      <a:pPr algn="ctr"/>
                      <a:r>
                        <a:rPr sz="1100" b="0" i="0">
                          <a:solidFill>
                            <a:srgbClr val="5A5F69"/>
                          </a:solidFill>
                          <a:latin typeface="Segoe UI"/>
                        </a:rPr>
                        <a:t>50%</a:t>
                      </a:r>
                    </a:p>
                  </a:txBody>
                  <a:tcPr marL="76200" marR="76200" marT="12700" marB="12700" anchor="ctr">
                    <a:solidFill>
                      <a:srgbClr val="EEF2F7"/>
                    </a:solidFill>
                  </a:tcPr>
                </a:tc>
                <a:extLst>
                  <a:ext uri="{0D108BD9-81ED-4DB2-BD59-A6C34878D82A}">
                    <a16:rowId xmlns:a16="http://schemas.microsoft.com/office/drawing/2014/main" val="10004"/>
                  </a:ext>
                </a:extLst>
              </a:tr>
              <a:tr h="310896">
                <a:tc>
                  <a:txBody>
                    <a:bodyPr/>
                    <a:lstStyle/>
                    <a:p>
                      <a:pPr algn="l"/>
                      <a:r>
                        <a:rPr sz="1100" b="0" i="0">
                          <a:solidFill>
                            <a:srgbClr val="5A5F69"/>
                          </a:solidFill>
                          <a:latin typeface="Segoe UI"/>
                        </a:rPr>
                        <a:t>     10–20 (12 trạm)</a:t>
                      </a:r>
                    </a:p>
                  </a:txBody>
                  <a:tcPr marL="76200" marR="76200" marT="12700" marB="12700" anchor="ctr">
                    <a:solidFill>
                      <a:srgbClr val="FFFFFF"/>
                    </a:solidFill>
                  </a:tcPr>
                </a:tc>
                <a:tc>
                  <a:txBody>
                    <a:bodyPr/>
                    <a:lstStyle/>
                    <a:p>
                      <a:pPr algn="ctr"/>
                      <a:endParaRPr/>
                    </a:p>
                  </a:txBody>
                  <a:tcPr marL="76200" marR="76200" marT="12700" marB="12700" anchor="ctr">
                    <a:solidFill>
                      <a:srgbClr val="FFFFFF"/>
                    </a:solidFill>
                  </a:tcPr>
                </a:tc>
                <a:tc>
                  <a:txBody>
                    <a:bodyPr/>
                    <a:lstStyle/>
                    <a:p>
                      <a:pPr algn="ctr"/>
                      <a:r>
                        <a:rPr sz="1100" b="0" i="0">
                          <a:solidFill>
                            <a:srgbClr val="5A5F69"/>
                          </a:solidFill>
                          <a:latin typeface="Segoe UI"/>
                        </a:rPr>
                        <a:t>+0,03</a:t>
                      </a:r>
                    </a:p>
                  </a:txBody>
                  <a:tcPr marL="76200" marR="76200" marT="12700" marB="12700" anchor="ctr">
                    <a:solidFill>
                      <a:srgbClr val="FFFFFF"/>
                    </a:solidFill>
                  </a:tcPr>
                </a:tc>
                <a:tc>
                  <a:txBody>
                    <a:bodyPr/>
                    <a:lstStyle/>
                    <a:p>
                      <a:pPr algn="ctr"/>
                      <a:r>
                        <a:rPr sz="1100" b="0" i="0">
                          <a:solidFill>
                            <a:srgbClr val="5A5F69"/>
                          </a:solidFill>
                          <a:latin typeface="Segoe UI"/>
                        </a:rPr>
                        <a:t>0,00</a:t>
                      </a:r>
                    </a:p>
                  </a:txBody>
                  <a:tcPr marL="76200" marR="76200" marT="12700" marB="12700" anchor="ctr">
                    <a:solidFill>
                      <a:srgbClr val="FFFFFF"/>
                    </a:solidFill>
                  </a:tcPr>
                </a:tc>
                <a:tc>
                  <a:txBody>
                    <a:bodyPr/>
                    <a:lstStyle/>
                    <a:p>
                      <a:pPr algn="ctr"/>
                      <a:r>
                        <a:rPr sz="1100" b="0" i="0">
                          <a:solidFill>
                            <a:srgbClr val="5A5F69"/>
                          </a:solidFill>
                          <a:latin typeface="Segoe UI"/>
                        </a:rPr>
                        <a:t>67%</a:t>
                      </a:r>
                    </a:p>
                  </a:txBody>
                  <a:tcPr marL="76200" marR="76200" marT="12700" marB="12700" anchor="ctr">
                    <a:solidFill>
                      <a:srgbClr val="FFFFFF"/>
                    </a:solidFill>
                  </a:tcPr>
                </a:tc>
                <a:extLst>
                  <a:ext uri="{0D108BD9-81ED-4DB2-BD59-A6C34878D82A}">
                    <a16:rowId xmlns:a16="http://schemas.microsoft.com/office/drawing/2014/main" val="10005"/>
                  </a:ext>
                </a:extLst>
              </a:tr>
              <a:tr h="310896">
                <a:tc>
                  <a:txBody>
                    <a:bodyPr/>
                    <a:lstStyle/>
                    <a:p>
                      <a:pPr algn="l"/>
                      <a:r>
                        <a:rPr sz="1100" b="0" i="0">
                          <a:solidFill>
                            <a:srgbClr val="5A5F69"/>
                          </a:solidFill>
                          <a:latin typeface="Segoe UI"/>
                        </a:rPr>
                        <a:t>     20–35 (11 trạm)</a:t>
                      </a:r>
                    </a:p>
                  </a:txBody>
                  <a:tcPr marL="76200" marR="76200" marT="12700" marB="12700" anchor="ctr">
                    <a:solidFill>
                      <a:srgbClr val="EEF2F7"/>
                    </a:solidFill>
                  </a:tcPr>
                </a:tc>
                <a:tc>
                  <a:txBody>
                    <a:bodyPr/>
                    <a:lstStyle/>
                    <a:p>
                      <a:pPr algn="ctr"/>
                      <a:endParaRPr/>
                    </a:p>
                  </a:txBody>
                  <a:tcPr marL="76200" marR="76200" marT="12700" marB="12700" anchor="ctr">
                    <a:solidFill>
                      <a:srgbClr val="EEF2F7"/>
                    </a:solidFill>
                  </a:tcPr>
                </a:tc>
                <a:tc>
                  <a:txBody>
                    <a:bodyPr/>
                    <a:lstStyle/>
                    <a:p>
                      <a:pPr algn="ctr"/>
                      <a:r>
                        <a:rPr sz="1100" b="0" i="0">
                          <a:solidFill>
                            <a:srgbClr val="5A5F69"/>
                          </a:solidFill>
                          <a:latin typeface="Segoe UI"/>
                        </a:rPr>
                        <a:t>+0,14</a:t>
                      </a:r>
                    </a:p>
                  </a:txBody>
                  <a:tcPr marL="76200" marR="76200" marT="12700" marB="12700" anchor="ctr">
                    <a:solidFill>
                      <a:srgbClr val="EEF2F7"/>
                    </a:solidFill>
                  </a:tcPr>
                </a:tc>
                <a:tc>
                  <a:txBody>
                    <a:bodyPr/>
                    <a:lstStyle/>
                    <a:p>
                      <a:pPr algn="ctr"/>
                      <a:r>
                        <a:rPr sz="1100" b="0" i="0">
                          <a:solidFill>
                            <a:srgbClr val="5A5F69"/>
                          </a:solidFill>
                          <a:latin typeface="Segoe UI"/>
                        </a:rPr>
                        <a:t>+0,17</a:t>
                      </a:r>
                    </a:p>
                  </a:txBody>
                  <a:tcPr marL="76200" marR="76200" marT="12700" marB="12700" anchor="ctr">
                    <a:solidFill>
                      <a:srgbClr val="EEF2F7"/>
                    </a:solidFill>
                  </a:tcPr>
                </a:tc>
                <a:tc>
                  <a:txBody>
                    <a:bodyPr/>
                    <a:lstStyle/>
                    <a:p>
                      <a:pPr algn="ctr"/>
                      <a:r>
                        <a:rPr sz="1100" b="0" i="0">
                          <a:solidFill>
                            <a:srgbClr val="5A5F69"/>
                          </a:solidFill>
                          <a:latin typeface="Segoe UI"/>
                        </a:rPr>
                        <a:t>91%</a:t>
                      </a:r>
                    </a:p>
                  </a:txBody>
                  <a:tcPr marL="76200" marR="76200" marT="12700" marB="12700" anchor="ctr">
                    <a:solidFill>
                      <a:srgbClr val="EEF2F7"/>
                    </a:solidFill>
                  </a:tcPr>
                </a:tc>
                <a:extLst>
                  <a:ext uri="{0D108BD9-81ED-4DB2-BD59-A6C34878D82A}">
                    <a16:rowId xmlns:a16="http://schemas.microsoft.com/office/drawing/2014/main" val="10006"/>
                  </a:ext>
                </a:extLst>
              </a:tr>
              <a:tr h="310896">
                <a:tc>
                  <a:txBody>
                    <a:bodyPr/>
                    <a:lstStyle/>
                    <a:p>
                      <a:pPr algn="l"/>
                      <a:r>
                        <a:rPr sz="1100" b="0" i="0">
                          <a:solidFill>
                            <a:srgbClr val="5A5F69"/>
                          </a:solidFill>
                          <a:latin typeface="Segoe UI"/>
                        </a:rPr>
                        <a:t>     ≥ 35 (9 trạm)</a:t>
                      </a:r>
                    </a:p>
                  </a:txBody>
                  <a:tcPr marL="76200" marR="76200" marT="12700" marB="12700" anchor="ctr">
                    <a:solidFill>
                      <a:srgbClr val="FFFFFF"/>
                    </a:solidFill>
                  </a:tcPr>
                </a:tc>
                <a:tc>
                  <a:txBody>
                    <a:bodyPr/>
                    <a:lstStyle/>
                    <a:p>
                      <a:pPr algn="ctr"/>
                      <a:endParaRPr/>
                    </a:p>
                  </a:txBody>
                  <a:tcPr marL="76200" marR="76200" marT="12700" marB="12700" anchor="ctr">
                    <a:solidFill>
                      <a:srgbClr val="FFFFFF"/>
                    </a:solidFill>
                  </a:tcPr>
                </a:tc>
                <a:tc>
                  <a:txBody>
                    <a:bodyPr/>
                    <a:lstStyle/>
                    <a:p>
                      <a:pPr algn="ctr"/>
                      <a:r>
                        <a:rPr sz="1100" b="0" i="0">
                          <a:solidFill>
                            <a:srgbClr val="5A5F69"/>
                          </a:solidFill>
                          <a:latin typeface="Segoe UI"/>
                        </a:rPr>
                        <a:t>+0,42</a:t>
                      </a:r>
                    </a:p>
                  </a:txBody>
                  <a:tcPr marL="76200" marR="76200" marT="12700" marB="12700" anchor="ctr">
                    <a:solidFill>
                      <a:srgbClr val="FFFFFF"/>
                    </a:solidFill>
                  </a:tcPr>
                </a:tc>
                <a:tc>
                  <a:txBody>
                    <a:bodyPr/>
                    <a:lstStyle/>
                    <a:p>
                      <a:pPr algn="ctr"/>
                      <a:r>
                        <a:rPr sz="1100" b="0" i="0">
                          <a:solidFill>
                            <a:srgbClr val="5A5F69"/>
                          </a:solidFill>
                          <a:latin typeface="Segoe UI"/>
                        </a:rPr>
                        <a:t>+0,43</a:t>
                      </a:r>
                    </a:p>
                  </a:txBody>
                  <a:tcPr marL="76200" marR="76200" marT="12700" marB="12700" anchor="ctr">
                    <a:solidFill>
                      <a:srgbClr val="FFFFFF"/>
                    </a:solidFill>
                  </a:tcPr>
                </a:tc>
                <a:tc>
                  <a:txBody>
                    <a:bodyPr/>
                    <a:lstStyle/>
                    <a:p>
                      <a:pPr algn="ctr"/>
                      <a:r>
                        <a:rPr sz="1100" b="0" i="0">
                          <a:solidFill>
                            <a:srgbClr val="5A5F69"/>
                          </a:solidFill>
                          <a:latin typeface="Segoe UI"/>
                        </a:rPr>
                        <a:t>89%</a:t>
                      </a:r>
                    </a:p>
                  </a:txBody>
                  <a:tcPr marL="76200" marR="76200" marT="12700" marB="12700" anchor="ctr">
                    <a:solidFill>
                      <a:srgbClr val="FFFFFF"/>
                    </a:solidFill>
                  </a:tcPr>
                </a:tc>
                <a:extLst>
                  <a:ext uri="{0D108BD9-81ED-4DB2-BD59-A6C34878D82A}">
                    <a16:rowId xmlns:a16="http://schemas.microsoft.com/office/drawing/2014/main" val="10007"/>
                  </a:ext>
                </a:extLst>
              </a:tr>
            </a:tbl>
          </a:graphicData>
        </a:graphic>
      </p:graphicFrame>
      <p:sp>
        <p:nvSpPr>
          <p:cNvPr id="15" name="Rounded Rectangle 14"/>
          <p:cNvSpPr/>
          <p:nvPr/>
        </p:nvSpPr>
        <p:spPr>
          <a:xfrm>
            <a:off x="7680960" y="2697480"/>
            <a:ext cx="3886200" cy="3246120"/>
          </a:xfrm>
          <a:prstGeom prst="roundRect">
            <a:avLst>
              <a:gd name="adj" fmla="val 10000"/>
            </a:avLst>
          </a:prstGeom>
          <a:solidFill>
            <a:srgbClr val="FC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680960" y="2697480"/>
            <a:ext cx="82296" cy="3246120"/>
          </a:xfrm>
          <a:prstGeom prst="roundRect">
            <a:avLst>
              <a:gd name="adj" fmla="val 50000"/>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18704" y="2807208"/>
            <a:ext cx="3502152" cy="3044952"/>
          </a:xfrm>
          <a:prstGeom prst="rect">
            <a:avLst/>
          </a:prstGeom>
          <a:noFill/>
        </p:spPr>
        <p:txBody>
          <a:bodyPr wrap="square" lIns="0" tIns="0" rIns="0" bIns="0" anchor="ctr">
            <a:spAutoFit/>
          </a:bodyPr>
          <a:lstStyle/>
          <a:p>
            <a:pPr algn="l">
              <a:spcAft>
                <a:spcPts val="400"/>
              </a:spcAft>
            </a:pPr>
            <a:r>
              <a:rPr sz="1200" b="1" i="0">
                <a:solidFill>
                  <a:srgbClr val="C02034"/>
                </a:solidFill>
                <a:latin typeface="Segoe UI Semibold"/>
              </a:rPr>
              <a:t>Kết luận</a:t>
            </a:r>
          </a:p>
          <a:p>
            <a:pPr algn="l">
              <a:lnSpc>
                <a:spcPct val="108000"/>
              </a:lnSpc>
            </a:pPr>
            <a:r>
              <a:rPr sz="1350" b="0" i="0">
                <a:solidFill>
                  <a:srgbClr val="1C2634"/>
                </a:solidFill>
                <a:latin typeface="Segoe UI"/>
              </a:rPr>
              <a:t>Mô hình gặp khó khăn rõ hơn tại các trạm có mức ô nhiễm thấp.
Chênh lệch giữa các tầng gợi ý mức nền và cơ chế ô nhiễm địa phương khác nhau giữa các trạm; các đặc trưng hiện có chưa mô tả đầy đủ sự khác biệt này.</a:t>
            </a:r>
          </a:p>
        </p:txBody>
      </p:sp>
      <p:sp>
        <p:nvSpPr>
          <p:cNvPr id="18" name="Rounded Rectangle 17"/>
          <p:cNvSpPr/>
          <p:nvPr/>
        </p:nvSpPr>
        <p:spPr>
          <a:xfrm>
            <a:off x="594360" y="5300414"/>
            <a:ext cx="6858000" cy="877824"/>
          </a:xfrm>
          <a:prstGeom prst="roundRect">
            <a:avLst>
              <a:gd name="adj" fmla="val 10000"/>
            </a:avLst>
          </a:prstGeom>
          <a:solidFill>
            <a:srgbClr val="EEF2F7"/>
          </a:solidFill>
          <a:ln w="12700">
            <a:solidFill>
              <a:srgbClr val="0033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5820" y="5382710"/>
            <a:ext cx="6446520" cy="713232"/>
          </a:xfrm>
          <a:prstGeom prst="rect">
            <a:avLst/>
          </a:prstGeom>
          <a:noFill/>
        </p:spPr>
        <p:txBody>
          <a:bodyPr wrap="square" lIns="0" tIns="0" rIns="0" bIns="0" anchor="t">
            <a:spAutoFit/>
          </a:bodyPr>
          <a:lstStyle/>
          <a:p>
            <a:pPr algn="l">
              <a:lnSpc>
                <a:spcPct val="100000"/>
              </a:lnSpc>
              <a:spcAft>
                <a:spcPts val="300"/>
              </a:spcAft>
            </a:pPr>
            <a:r>
              <a:rPr sz="1450" b="1" i="0" dirty="0" err="1">
                <a:solidFill>
                  <a:srgbClr val="003366"/>
                </a:solidFill>
                <a:latin typeface="Segoe UI Semibold"/>
              </a:rPr>
              <a:t>R²</a:t>
            </a:r>
            <a:r>
              <a:rPr sz="1450" b="1" i="0" dirty="0">
                <a:solidFill>
                  <a:srgbClr val="003366"/>
                </a:solidFill>
                <a:latin typeface="Segoe UI Semibold"/>
              </a:rPr>
              <a:t> (</a:t>
            </a:r>
            <a:r>
              <a:rPr sz="1450" b="1" i="0" dirty="0" err="1">
                <a:solidFill>
                  <a:srgbClr val="003366"/>
                </a:solidFill>
                <a:latin typeface="Segoe UI Semibold"/>
              </a:rPr>
              <a:t>hệ</a:t>
            </a:r>
            <a:r>
              <a:rPr sz="1450" b="1" i="0" dirty="0">
                <a:solidFill>
                  <a:srgbClr val="003366"/>
                </a:solidFill>
                <a:latin typeface="Segoe UI Semibold"/>
              </a:rPr>
              <a:t> </a:t>
            </a:r>
            <a:r>
              <a:rPr sz="1450" b="1" i="0" dirty="0" err="1">
                <a:solidFill>
                  <a:srgbClr val="003366"/>
                </a:solidFill>
                <a:latin typeface="Segoe UI Semibold"/>
              </a:rPr>
              <a:t>số</a:t>
            </a:r>
            <a:r>
              <a:rPr sz="1450" b="1" i="0" dirty="0">
                <a:solidFill>
                  <a:srgbClr val="003366"/>
                </a:solidFill>
                <a:latin typeface="Segoe UI Semibold"/>
              </a:rPr>
              <a:t> </a:t>
            </a:r>
            <a:r>
              <a:rPr sz="1450" b="1" i="0" dirty="0" err="1">
                <a:solidFill>
                  <a:srgbClr val="003366"/>
                </a:solidFill>
                <a:latin typeface="Segoe UI Semibold"/>
              </a:rPr>
              <a:t>xác</a:t>
            </a:r>
            <a:r>
              <a:rPr sz="1450" b="1" i="0" dirty="0">
                <a:solidFill>
                  <a:srgbClr val="003366"/>
                </a:solidFill>
                <a:latin typeface="Segoe UI Semibold"/>
              </a:rPr>
              <a:t> </a:t>
            </a:r>
            <a:r>
              <a:rPr sz="1450" b="1" i="0" dirty="0" err="1">
                <a:solidFill>
                  <a:srgbClr val="003366"/>
                </a:solidFill>
                <a:latin typeface="Segoe UI Semibold"/>
              </a:rPr>
              <a:t>định</a:t>
            </a:r>
            <a:r>
              <a:rPr sz="1450" b="1" i="0" dirty="0">
                <a:solidFill>
                  <a:srgbClr val="003366"/>
                </a:solidFill>
                <a:latin typeface="Segoe UI Semibold"/>
              </a:rPr>
              <a:t>)  =  1 − Σ(y−ŷ)² / Σ(y−ȳ)²</a:t>
            </a:r>
          </a:p>
          <a:p>
            <a:pPr algn="l">
              <a:lnSpc>
                <a:spcPct val="100000"/>
              </a:lnSpc>
            </a:pPr>
            <a:r>
              <a:rPr sz="1150" b="0" i="0" dirty="0" err="1">
                <a:solidFill>
                  <a:srgbClr val="1C2634"/>
                </a:solidFill>
                <a:latin typeface="Segoe UI"/>
              </a:rPr>
              <a:t>Mức</a:t>
            </a:r>
            <a:r>
              <a:rPr sz="1150" b="0" i="0" dirty="0">
                <a:solidFill>
                  <a:srgbClr val="1C2634"/>
                </a:solidFill>
                <a:latin typeface="Segoe UI"/>
              </a:rPr>
              <a:t> </a:t>
            </a:r>
            <a:r>
              <a:rPr sz="1150" b="0" i="0" dirty="0" err="1">
                <a:solidFill>
                  <a:srgbClr val="1C2634"/>
                </a:solidFill>
                <a:latin typeface="Segoe UI"/>
              </a:rPr>
              <a:t>độ</a:t>
            </a:r>
            <a:r>
              <a:rPr sz="1150" b="0" i="0" dirty="0">
                <a:solidFill>
                  <a:srgbClr val="1C2634"/>
                </a:solidFill>
                <a:latin typeface="Segoe UI"/>
              </a:rPr>
              <a:t> </a:t>
            </a:r>
            <a:r>
              <a:rPr sz="1150" b="0" i="0" dirty="0" err="1">
                <a:solidFill>
                  <a:srgbClr val="1C2634"/>
                </a:solidFill>
                <a:latin typeface="Segoe UI"/>
              </a:rPr>
              <a:t>khớp</a:t>
            </a:r>
            <a:r>
              <a:rPr sz="1150" b="0" i="0" dirty="0">
                <a:solidFill>
                  <a:srgbClr val="1C2634"/>
                </a:solidFill>
                <a:latin typeface="Segoe UI"/>
              </a:rPr>
              <a:t> </a:t>
            </a:r>
            <a:r>
              <a:rPr sz="1150" b="0" i="0" dirty="0" err="1">
                <a:solidFill>
                  <a:srgbClr val="1C2634"/>
                </a:solidFill>
                <a:latin typeface="Segoe UI"/>
              </a:rPr>
              <a:t>giữa</a:t>
            </a:r>
            <a:r>
              <a:rPr sz="1150" b="0" i="0" dirty="0">
                <a:solidFill>
                  <a:srgbClr val="1C2634"/>
                </a:solidFill>
                <a:latin typeface="Segoe UI"/>
              </a:rPr>
              <a:t> </a:t>
            </a:r>
            <a:r>
              <a:rPr sz="1150" b="0" i="0" dirty="0" err="1">
                <a:solidFill>
                  <a:srgbClr val="1C2634"/>
                </a:solidFill>
                <a:latin typeface="Segoe UI"/>
              </a:rPr>
              <a:t>dự</a:t>
            </a:r>
            <a:r>
              <a:rPr sz="1150" b="0" i="0" dirty="0">
                <a:solidFill>
                  <a:srgbClr val="1C2634"/>
                </a:solidFill>
                <a:latin typeface="Segoe UI"/>
              </a:rPr>
              <a:t> </a:t>
            </a:r>
            <a:r>
              <a:rPr sz="1150" b="0" i="0" dirty="0" err="1">
                <a:solidFill>
                  <a:srgbClr val="1C2634"/>
                </a:solidFill>
                <a:latin typeface="Segoe UI"/>
              </a:rPr>
              <a:t>đoán</a:t>
            </a:r>
            <a:r>
              <a:rPr sz="1150" b="0" i="0" dirty="0">
                <a:solidFill>
                  <a:srgbClr val="1C2634"/>
                </a:solidFill>
                <a:latin typeface="Segoe UI"/>
              </a:rPr>
              <a:t> </a:t>
            </a:r>
            <a:r>
              <a:rPr sz="1150" b="0" i="0" dirty="0" err="1">
                <a:solidFill>
                  <a:srgbClr val="1C2634"/>
                </a:solidFill>
                <a:latin typeface="Segoe UI"/>
              </a:rPr>
              <a:t>PM2.5</a:t>
            </a:r>
            <a:r>
              <a:rPr sz="1150" b="0" i="0" dirty="0">
                <a:solidFill>
                  <a:srgbClr val="1C2634"/>
                </a:solidFill>
                <a:latin typeface="Segoe UI"/>
              </a:rPr>
              <a:t> </a:t>
            </a:r>
            <a:r>
              <a:rPr sz="1150" b="0" i="0" dirty="0" err="1">
                <a:solidFill>
                  <a:srgbClr val="1C2634"/>
                </a:solidFill>
                <a:latin typeface="Segoe UI"/>
              </a:rPr>
              <a:t>và</a:t>
            </a:r>
            <a:r>
              <a:rPr sz="1150" b="0" i="0" dirty="0">
                <a:solidFill>
                  <a:srgbClr val="1C2634"/>
                </a:solidFill>
                <a:latin typeface="Segoe UI"/>
              </a:rPr>
              <a:t> </a:t>
            </a:r>
            <a:r>
              <a:rPr sz="1150" b="0" i="0" dirty="0" err="1">
                <a:solidFill>
                  <a:srgbClr val="1C2634"/>
                </a:solidFill>
                <a:latin typeface="Segoe UI"/>
              </a:rPr>
              <a:t>giá</a:t>
            </a:r>
            <a:r>
              <a:rPr sz="1150" b="0" i="0" dirty="0">
                <a:solidFill>
                  <a:srgbClr val="1C2634"/>
                </a:solidFill>
                <a:latin typeface="Segoe UI"/>
              </a:rPr>
              <a:t> </a:t>
            </a:r>
            <a:r>
              <a:rPr sz="1150" b="0" i="0" dirty="0" err="1">
                <a:solidFill>
                  <a:srgbClr val="1C2634"/>
                </a:solidFill>
                <a:latin typeface="Segoe UI"/>
              </a:rPr>
              <a:t>trị</a:t>
            </a:r>
            <a:r>
              <a:rPr sz="1150" b="0" i="0" dirty="0">
                <a:solidFill>
                  <a:srgbClr val="1C2634"/>
                </a:solidFill>
                <a:latin typeface="Segoe UI"/>
              </a:rPr>
              <a:t> </a:t>
            </a:r>
            <a:r>
              <a:rPr sz="1150" b="0" i="0" dirty="0" err="1">
                <a:solidFill>
                  <a:srgbClr val="1C2634"/>
                </a:solidFill>
                <a:latin typeface="Segoe UI"/>
              </a:rPr>
              <a:t>thực</a:t>
            </a:r>
            <a:r>
              <a:rPr sz="1150" b="0" i="0" dirty="0">
                <a:solidFill>
                  <a:srgbClr val="1C2634"/>
                </a:solidFill>
                <a:latin typeface="Segoe UI"/>
              </a:rPr>
              <a:t>: 1 </a:t>
            </a:r>
            <a:r>
              <a:rPr sz="1150" b="0" i="0" dirty="0" err="1">
                <a:solidFill>
                  <a:srgbClr val="1C2634"/>
                </a:solidFill>
                <a:latin typeface="Segoe UI"/>
              </a:rPr>
              <a:t>là</a:t>
            </a:r>
            <a:r>
              <a:rPr sz="1150" b="0" i="0" dirty="0">
                <a:solidFill>
                  <a:srgbClr val="1C2634"/>
                </a:solidFill>
                <a:latin typeface="Segoe UI"/>
              </a:rPr>
              <a:t> </a:t>
            </a:r>
            <a:r>
              <a:rPr sz="1150" b="0" i="0" dirty="0" err="1">
                <a:solidFill>
                  <a:srgbClr val="1C2634"/>
                </a:solidFill>
                <a:latin typeface="Segoe UI"/>
              </a:rPr>
              <a:t>hoàn</a:t>
            </a:r>
            <a:r>
              <a:rPr sz="1150" b="0" i="0" dirty="0">
                <a:solidFill>
                  <a:srgbClr val="1C2634"/>
                </a:solidFill>
                <a:latin typeface="Segoe UI"/>
              </a:rPr>
              <a:t> </a:t>
            </a:r>
            <a:r>
              <a:rPr sz="1150" b="0" i="0" dirty="0" err="1">
                <a:solidFill>
                  <a:srgbClr val="1C2634"/>
                </a:solidFill>
                <a:latin typeface="Segoe UI"/>
              </a:rPr>
              <a:t>hảo</a:t>
            </a:r>
            <a:r>
              <a:rPr sz="1150" b="0" i="0" dirty="0">
                <a:solidFill>
                  <a:srgbClr val="1C2634"/>
                </a:solidFill>
                <a:latin typeface="Segoe UI"/>
              </a:rPr>
              <a:t>, 0 </a:t>
            </a:r>
            <a:r>
              <a:rPr sz="1150" b="0" i="0" dirty="0" err="1">
                <a:solidFill>
                  <a:srgbClr val="1C2634"/>
                </a:solidFill>
                <a:latin typeface="Segoe UI"/>
              </a:rPr>
              <a:t>tương</a:t>
            </a:r>
            <a:r>
              <a:rPr sz="1150" b="0" i="0" dirty="0">
                <a:solidFill>
                  <a:srgbClr val="1C2634"/>
                </a:solidFill>
                <a:latin typeface="Segoe UI"/>
              </a:rPr>
              <a:t> </a:t>
            </a:r>
            <a:r>
              <a:rPr sz="1150" b="0" i="0" dirty="0" err="1">
                <a:solidFill>
                  <a:srgbClr val="1C2634"/>
                </a:solidFill>
                <a:latin typeface="Segoe UI"/>
              </a:rPr>
              <a:t>đương</a:t>
            </a:r>
            <a:r>
              <a:rPr sz="1150" b="0" i="0" dirty="0">
                <a:solidFill>
                  <a:srgbClr val="1C2634"/>
                </a:solidFill>
                <a:latin typeface="Segoe UI"/>
              </a:rPr>
              <a:t> </a:t>
            </a:r>
            <a:r>
              <a:rPr sz="1150" b="0" i="0" dirty="0" err="1">
                <a:solidFill>
                  <a:srgbClr val="1C2634"/>
                </a:solidFill>
                <a:latin typeface="Segoe UI"/>
              </a:rPr>
              <a:t>dự</a:t>
            </a:r>
            <a:r>
              <a:rPr sz="1150" b="0" i="0" dirty="0">
                <a:solidFill>
                  <a:srgbClr val="1C2634"/>
                </a:solidFill>
                <a:latin typeface="Segoe UI"/>
              </a:rPr>
              <a:t> </a:t>
            </a:r>
            <a:r>
              <a:rPr sz="1150" b="0" i="0" dirty="0" err="1">
                <a:solidFill>
                  <a:srgbClr val="1C2634"/>
                </a:solidFill>
                <a:latin typeface="Segoe UI"/>
              </a:rPr>
              <a:t>đoán</a:t>
            </a:r>
            <a:r>
              <a:rPr sz="1150" b="0" i="0" dirty="0">
                <a:solidFill>
                  <a:srgbClr val="1C2634"/>
                </a:solidFill>
                <a:latin typeface="Segoe UI"/>
              </a:rPr>
              <a:t> </a:t>
            </a:r>
            <a:r>
              <a:rPr sz="1150" b="0" i="0" dirty="0" err="1">
                <a:solidFill>
                  <a:srgbClr val="1C2634"/>
                </a:solidFill>
                <a:latin typeface="Segoe UI"/>
              </a:rPr>
              <a:t>bằng</a:t>
            </a:r>
            <a:r>
              <a:rPr sz="1150" b="0" i="0" dirty="0">
                <a:solidFill>
                  <a:srgbClr val="1C2634"/>
                </a:solidFill>
                <a:latin typeface="Segoe UI"/>
              </a:rPr>
              <a:t> </a:t>
            </a:r>
            <a:r>
              <a:rPr sz="1150" b="0" i="0" dirty="0" err="1">
                <a:solidFill>
                  <a:srgbClr val="1C2634"/>
                </a:solidFill>
                <a:latin typeface="Segoe UI"/>
              </a:rPr>
              <a:t>giá</a:t>
            </a:r>
            <a:r>
              <a:rPr sz="1150" b="0" i="0" dirty="0">
                <a:solidFill>
                  <a:srgbClr val="1C2634"/>
                </a:solidFill>
                <a:latin typeface="Segoe UI"/>
              </a:rPr>
              <a:t> </a:t>
            </a:r>
            <a:r>
              <a:rPr sz="1150" b="0" i="0" dirty="0" err="1">
                <a:solidFill>
                  <a:srgbClr val="1C2634"/>
                </a:solidFill>
                <a:latin typeface="Segoe UI"/>
              </a:rPr>
              <a:t>trị</a:t>
            </a:r>
            <a:r>
              <a:rPr sz="1150" b="0" i="0" dirty="0">
                <a:solidFill>
                  <a:srgbClr val="1C2634"/>
                </a:solidFill>
                <a:latin typeface="Segoe UI"/>
              </a:rPr>
              <a:t> </a:t>
            </a:r>
            <a:r>
              <a:rPr sz="1150" b="0" i="0" dirty="0" err="1">
                <a:solidFill>
                  <a:srgbClr val="1C2634"/>
                </a:solidFill>
                <a:latin typeface="Segoe UI"/>
              </a:rPr>
              <a:t>trung</a:t>
            </a:r>
            <a:r>
              <a:rPr sz="1150" b="0" i="0" dirty="0">
                <a:solidFill>
                  <a:srgbClr val="1C2634"/>
                </a:solidFill>
                <a:latin typeface="Segoe UI"/>
              </a:rPr>
              <a:t> </a:t>
            </a:r>
            <a:r>
              <a:rPr sz="1150" b="0" i="0" dirty="0" err="1">
                <a:solidFill>
                  <a:srgbClr val="1C2634"/>
                </a:solidFill>
                <a:latin typeface="Segoe UI"/>
              </a:rPr>
              <a:t>bình</a:t>
            </a:r>
            <a:r>
              <a:rPr sz="1150" b="0" i="0" dirty="0">
                <a:solidFill>
                  <a:srgbClr val="1C2634"/>
                </a:solidFill>
                <a:latin typeface="Segoe UI"/>
              </a:rPr>
              <a:t>, </a:t>
            </a:r>
            <a:r>
              <a:rPr sz="1150" b="0" i="0" dirty="0" err="1">
                <a:solidFill>
                  <a:srgbClr val="1C2634"/>
                </a:solidFill>
                <a:latin typeface="Segoe UI"/>
              </a:rPr>
              <a:t>âm</a:t>
            </a:r>
            <a:r>
              <a:rPr sz="1150" b="0" i="0" dirty="0">
                <a:solidFill>
                  <a:srgbClr val="1C2634"/>
                </a:solidFill>
                <a:latin typeface="Segoe UI"/>
              </a:rPr>
              <a:t> </a:t>
            </a:r>
            <a:r>
              <a:rPr sz="1150" b="0" i="0" dirty="0" err="1">
                <a:solidFill>
                  <a:srgbClr val="1C2634"/>
                </a:solidFill>
                <a:latin typeface="Segoe UI"/>
              </a:rPr>
              <a:t>là</a:t>
            </a:r>
            <a:r>
              <a:rPr sz="1150" b="0" i="0" dirty="0">
                <a:solidFill>
                  <a:srgbClr val="1C2634"/>
                </a:solidFill>
                <a:latin typeface="Segoe UI"/>
              </a:rPr>
              <a:t> </a:t>
            </a:r>
            <a:r>
              <a:rPr sz="1150" b="0" i="0" dirty="0" err="1">
                <a:solidFill>
                  <a:srgbClr val="1C2634"/>
                </a:solidFill>
                <a:latin typeface="Segoe UI"/>
              </a:rPr>
              <a:t>kém</a:t>
            </a:r>
            <a:r>
              <a:rPr sz="1150" b="0" i="0" dirty="0">
                <a:solidFill>
                  <a:srgbClr val="1C2634"/>
                </a:solidFill>
                <a:latin typeface="Segoe UI"/>
              </a:rPr>
              <a:t> </a:t>
            </a:r>
            <a:r>
              <a:rPr sz="1150" b="0" i="0" dirty="0" err="1">
                <a:solidFill>
                  <a:srgbClr val="1C2634"/>
                </a:solidFill>
                <a:latin typeface="Segoe UI"/>
              </a:rPr>
              <a:t>hơn</a:t>
            </a:r>
            <a:r>
              <a:rPr sz="1150" b="0" i="0" dirty="0">
                <a:solidFill>
                  <a:srgbClr val="1C2634"/>
                </a:solidFill>
                <a:latin typeface="Segoe UI"/>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5A5F69"/>
                </a:solidFill>
                <a:latin typeface="Segoe UI"/>
              </a:rPr>
              <a:t>15</a:t>
            </a:r>
          </a:p>
        </p:txBody>
      </p:sp>
      <p:sp>
        <p:nvSpPr>
          <p:cNvPr id="4" name="TextBox 3"/>
          <p:cNvSpPr txBox="1"/>
          <p:nvPr/>
        </p:nvSpPr>
        <p:spPr>
          <a:xfrm>
            <a:off x="566928" y="91440"/>
            <a:ext cx="11064240" cy="658368"/>
          </a:xfrm>
          <a:prstGeom prst="rect">
            <a:avLst/>
          </a:prstGeom>
          <a:noFill/>
        </p:spPr>
        <p:txBody>
          <a:bodyPr wrap="square" lIns="0" tIns="0" rIns="0" bIns="0" anchor="ctr">
            <a:spAutoFit/>
          </a:bodyPr>
          <a:lstStyle/>
          <a:p>
            <a:pPr algn="l"/>
            <a:r>
              <a:rPr sz="2500" b="1" i="0">
                <a:solidFill>
                  <a:srgbClr val="FFFFFF"/>
                </a:solidFill>
                <a:latin typeface="Segoe UI Semibold"/>
              </a:rPr>
              <a:t>Xác định phạm vi vùng đồng bằng sông Hồng</a:t>
            </a:r>
          </a:p>
        </p:txBody>
      </p:sp>
      <p:pic>
        <p:nvPicPr>
          <p:cNvPr id="5" name="Picture 4" descr="fig_4_regional_context.png"/>
          <p:cNvPicPr>
            <a:picLocks noChangeAspect="1"/>
          </p:cNvPicPr>
          <p:nvPr/>
        </p:nvPicPr>
        <p:blipFill>
          <a:blip r:embed="rId3"/>
          <a:stretch>
            <a:fillRect/>
          </a:stretch>
        </p:blipFill>
        <p:spPr>
          <a:xfrm>
            <a:off x="457200" y="1769770"/>
            <a:ext cx="6126480" cy="3501340"/>
          </a:xfrm>
          <a:prstGeom prst="rect">
            <a:avLst/>
          </a:prstGeom>
        </p:spPr>
      </p:pic>
      <p:sp>
        <p:nvSpPr>
          <p:cNvPr id="6" name="Rounded Rectangle 5"/>
          <p:cNvSpPr/>
          <p:nvPr/>
        </p:nvSpPr>
        <p:spPr>
          <a:xfrm>
            <a:off x="7040880" y="1371600"/>
            <a:ext cx="4572000" cy="1051560"/>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040880" y="1371600"/>
            <a:ext cx="82296" cy="1051560"/>
          </a:xfrm>
          <a:prstGeom prst="roundRect">
            <a:avLst>
              <a:gd name="adj" fmla="val 50000"/>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242048" y="1499616"/>
            <a:ext cx="4261104" cy="832104"/>
          </a:xfrm>
          <a:prstGeom prst="rect">
            <a:avLst/>
          </a:prstGeom>
          <a:noFill/>
        </p:spPr>
        <p:txBody>
          <a:bodyPr wrap="square" lIns="0" tIns="0" rIns="0" bIns="0" anchor="ctr">
            <a:spAutoFit/>
          </a:bodyPr>
          <a:lstStyle/>
          <a:p>
            <a:pPr algn="l"/>
            <a:r>
              <a:rPr sz="2600" b="1" i="0">
                <a:solidFill>
                  <a:srgbClr val="C02034"/>
                </a:solidFill>
                <a:latin typeface="Segoe UI Semibold"/>
              </a:rPr>
              <a:t>37,4 µg/m³</a:t>
            </a:r>
          </a:p>
          <a:p>
            <a:pPr algn="l">
              <a:lnSpc>
                <a:spcPct val="100000"/>
              </a:lnSpc>
              <a:spcBef>
                <a:spcPts val="200"/>
              </a:spcBef>
            </a:pPr>
            <a:r>
              <a:rPr sz="1200" b="0" i="0">
                <a:solidFill>
                  <a:srgbClr val="5A5F69"/>
                </a:solidFill>
                <a:latin typeface="Segoe UI"/>
              </a:rPr>
              <a:t>PM2.5 trung vị theo trạm (toàn quốc 19,3)</a:t>
            </a:r>
          </a:p>
        </p:txBody>
      </p:sp>
      <p:sp>
        <p:nvSpPr>
          <p:cNvPr id="9" name="Rounded Rectangle 8"/>
          <p:cNvSpPr/>
          <p:nvPr/>
        </p:nvSpPr>
        <p:spPr>
          <a:xfrm>
            <a:off x="7040880" y="2560320"/>
            <a:ext cx="4572000" cy="1051560"/>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040880" y="2560320"/>
            <a:ext cx="82296" cy="1051560"/>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42048" y="2688336"/>
            <a:ext cx="4261104" cy="832104"/>
          </a:xfrm>
          <a:prstGeom prst="rect">
            <a:avLst/>
          </a:prstGeom>
          <a:noFill/>
        </p:spPr>
        <p:txBody>
          <a:bodyPr wrap="square" lIns="0" tIns="0" rIns="0" bIns="0" anchor="ctr">
            <a:spAutoFit/>
          </a:bodyPr>
          <a:lstStyle/>
          <a:p>
            <a:pPr algn="l"/>
            <a:r>
              <a:rPr sz="2600" b="1" i="0">
                <a:solidFill>
                  <a:srgbClr val="003366"/>
                </a:solidFill>
                <a:latin typeface="Segoe UI Semibold"/>
              </a:rPr>
              <a:t>21,6 km</a:t>
            </a:r>
          </a:p>
          <a:p>
            <a:pPr algn="l">
              <a:lnSpc>
                <a:spcPct val="100000"/>
              </a:lnSpc>
              <a:spcBef>
                <a:spcPts val="200"/>
              </a:spcBef>
            </a:pPr>
            <a:r>
              <a:rPr sz="1200" b="0" i="0">
                <a:solidFill>
                  <a:srgbClr val="5A5F69"/>
                </a:solidFill>
                <a:latin typeface="Segoe UI"/>
              </a:rPr>
              <a:t>trung vị khoảng cách tới 3 trạm quan trắc gần nhất (toàn quốc 27,2 km)</a:t>
            </a:r>
          </a:p>
        </p:txBody>
      </p:sp>
      <p:sp>
        <p:nvSpPr>
          <p:cNvPr id="12" name="Rounded Rectangle 11"/>
          <p:cNvSpPr/>
          <p:nvPr/>
        </p:nvSpPr>
        <p:spPr>
          <a:xfrm>
            <a:off x="7040880" y="3749039"/>
            <a:ext cx="4572000" cy="1051560"/>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040880" y="3749039"/>
            <a:ext cx="82296" cy="1051560"/>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42048" y="3877055"/>
            <a:ext cx="4261104" cy="832104"/>
          </a:xfrm>
          <a:prstGeom prst="rect">
            <a:avLst/>
          </a:prstGeom>
          <a:noFill/>
        </p:spPr>
        <p:txBody>
          <a:bodyPr wrap="square" lIns="0" tIns="0" rIns="0" bIns="0" anchor="ctr">
            <a:spAutoFit/>
          </a:bodyPr>
          <a:lstStyle/>
          <a:p>
            <a:pPr algn="l"/>
            <a:r>
              <a:rPr sz="2600" b="1" i="0">
                <a:solidFill>
                  <a:srgbClr val="003366"/>
                </a:solidFill>
                <a:latin typeface="Segoe UI Semibold"/>
              </a:rPr>
              <a:t>99,9%</a:t>
            </a:r>
          </a:p>
          <a:p>
            <a:pPr algn="l">
              <a:lnSpc>
                <a:spcPct val="100000"/>
              </a:lnSpc>
              <a:spcBef>
                <a:spcPts val="200"/>
              </a:spcBef>
            </a:pPr>
            <a:r>
              <a:rPr sz="1200" b="0" i="0">
                <a:solidFill>
                  <a:srgbClr val="5A5F69"/>
                </a:solidFill>
                <a:latin typeface="Segoe UI"/>
              </a:rPr>
              <a:t>số giờ có ≥ 3 trạm đo đồng thời</a:t>
            </a:r>
          </a:p>
        </p:txBody>
      </p:sp>
      <p:sp>
        <p:nvSpPr>
          <p:cNvPr id="15" name="TextBox 14"/>
          <p:cNvSpPr txBox="1"/>
          <p:nvPr/>
        </p:nvSpPr>
        <p:spPr>
          <a:xfrm>
            <a:off x="7040880" y="4983480"/>
            <a:ext cx="4572000" cy="914400"/>
          </a:xfrm>
          <a:prstGeom prst="rect">
            <a:avLst/>
          </a:prstGeom>
          <a:noFill/>
        </p:spPr>
        <p:txBody>
          <a:bodyPr wrap="square" lIns="0" tIns="0" rIns="0" bIns="0" anchor="t">
            <a:spAutoFit/>
          </a:bodyPr>
          <a:lstStyle/>
          <a:p>
            <a:pPr algn="l">
              <a:lnSpc>
                <a:spcPct val="112000"/>
              </a:lnSpc>
            </a:pPr>
            <a:r>
              <a:rPr sz="1400" b="0" i="1">
                <a:solidFill>
                  <a:srgbClr val="5A5F69"/>
                </a:solidFill>
                <a:latin typeface="Segoe UI"/>
              </a:rPr>
              <a:t>Vùng được chọn vì ô nhiễm cao và bối cảnh đồng nhất; mạng trạm tập trung nên có thể dùng thêm PM2.5 từ trạm lân cận.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nav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96AAC3"/>
                </a:solidFill>
                <a:latin typeface="Segoe UI"/>
              </a:rPr>
              <a:t>16</a:t>
            </a:r>
          </a:p>
        </p:txBody>
      </p:sp>
      <p:pic>
        <p:nvPicPr>
          <p:cNvPr id="4" name="Picture 3" descr="logo_white.png"/>
          <p:cNvPicPr>
            <a:picLocks noChangeAspect="1"/>
          </p:cNvPicPr>
          <p:nvPr/>
        </p:nvPicPr>
        <p:blipFill>
          <a:blip r:embed="rId3"/>
          <a:stretch>
            <a:fillRect/>
          </a:stretch>
        </p:blipFill>
        <p:spPr>
          <a:xfrm>
            <a:off x="566928" y="502920"/>
            <a:ext cx="1443089" cy="566928"/>
          </a:xfrm>
          <a:prstGeom prst="rect">
            <a:avLst/>
          </a:prstGeom>
        </p:spPr>
      </p:pic>
      <p:sp>
        <p:nvSpPr>
          <p:cNvPr id="5" name="TextBox 4"/>
          <p:cNvSpPr txBox="1"/>
          <p:nvPr/>
        </p:nvSpPr>
        <p:spPr>
          <a:xfrm>
            <a:off x="603504" y="2331720"/>
            <a:ext cx="2011680" cy="1463040"/>
          </a:xfrm>
          <a:prstGeom prst="rect">
            <a:avLst/>
          </a:prstGeom>
          <a:noFill/>
        </p:spPr>
        <p:txBody>
          <a:bodyPr wrap="square" lIns="0" tIns="0" rIns="0" bIns="0" anchor="ctr">
            <a:spAutoFit/>
          </a:bodyPr>
          <a:lstStyle/>
          <a:p>
            <a:pPr algn="l"/>
            <a:r>
              <a:rPr sz="9600" b="1" i="0">
                <a:solidFill>
                  <a:srgbClr val="FFFFFF"/>
                </a:solidFill>
                <a:latin typeface="Segoe UI Semibold"/>
              </a:rPr>
              <a:t>3</a:t>
            </a:r>
          </a:p>
        </p:txBody>
      </p:sp>
      <p:cxnSp>
        <p:nvCxnSpPr>
          <p:cNvPr id="6" name="Connector 5"/>
          <p:cNvCxnSpPr/>
          <p:nvPr/>
        </p:nvCxnSpPr>
        <p:spPr>
          <a:xfrm>
            <a:off x="2697480" y="3154680"/>
            <a:ext cx="18288" cy="0"/>
          </a:xfrm>
          <a:prstGeom prst="bentConnector3">
            <a:avLst/>
          </a:prstGeom>
          <a:ln>
            <a:solidFill>
              <a:srgbClr val="C0203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2468880"/>
            <a:ext cx="0" cy="1508759"/>
          </a:xfrm>
          <a:prstGeom prst="bentConnector3">
            <a:avLst/>
          </a:prstGeom>
          <a:ln w="31750">
            <a:solidFill>
              <a:srgbClr val="C02034"/>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017520" y="2331720"/>
            <a:ext cx="8229600" cy="1554480"/>
          </a:xfrm>
          <a:prstGeom prst="rect">
            <a:avLst/>
          </a:prstGeom>
          <a:noFill/>
        </p:spPr>
        <p:txBody>
          <a:bodyPr wrap="square" lIns="0" tIns="0" rIns="0" bIns="0" anchor="ctr">
            <a:spAutoFit/>
          </a:bodyPr>
          <a:lstStyle/>
          <a:p>
            <a:pPr algn="l"/>
            <a:r>
              <a:rPr sz="3600" b="1" i="0">
                <a:solidFill>
                  <a:srgbClr val="FFFFFF"/>
                </a:solidFill>
                <a:latin typeface="Segoe UI Semibold"/>
              </a:rPr>
              <a:t>Mô hình vùng đồng bằng sông Hồng</a:t>
            </a:r>
          </a:p>
          <a:p>
            <a:pPr algn="l">
              <a:lnSpc>
                <a:spcPct val="110000"/>
              </a:lnSpc>
              <a:spcBef>
                <a:spcPts val="1000"/>
              </a:spcBef>
            </a:pPr>
            <a:r>
              <a:rPr sz="1700" b="0" i="0">
                <a:solidFill>
                  <a:srgbClr val="BED2E6"/>
                </a:solidFill>
                <a:latin typeface="Segoe UI"/>
              </a:rPr>
              <a:t>delta_rfsi_wind — XGBoost + RFSI có xét hướng gió</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5A5F69"/>
                </a:solidFill>
                <a:latin typeface="Segoe UI"/>
              </a:rPr>
              <a:t>17</a:t>
            </a:r>
          </a:p>
        </p:txBody>
      </p:sp>
      <p:sp>
        <p:nvSpPr>
          <p:cNvPr id="4" name="TextBox 3"/>
          <p:cNvSpPr txBox="1"/>
          <p:nvPr/>
        </p:nvSpPr>
        <p:spPr>
          <a:xfrm>
            <a:off x="566928" y="91440"/>
            <a:ext cx="11064240" cy="658368"/>
          </a:xfrm>
          <a:prstGeom prst="rect">
            <a:avLst/>
          </a:prstGeom>
          <a:noFill/>
        </p:spPr>
        <p:txBody>
          <a:bodyPr wrap="square" lIns="0" tIns="0" rIns="0" bIns="0" anchor="ctr">
            <a:spAutoFit/>
          </a:bodyPr>
          <a:lstStyle/>
          <a:p>
            <a:pPr algn="l"/>
            <a:r>
              <a:rPr sz="2500" b="1" i="0">
                <a:solidFill>
                  <a:srgbClr val="FFFFFF"/>
                </a:solidFill>
                <a:latin typeface="Segoe UI Semibold"/>
              </a:rPr>
              <a:t>Kết quả LOSO (12 trạm ĐBSH)</a:t>
            </a:r>
          </a:p>
        </p:txBody>
      </p:sp>
      <p:graphicFrame>
        <p:nvGraphicFramePr>
          <p:cNvPr id="5" name="Table 4"/>
          <p:cNvGraphicFramePr>
            <a:graphicFrameLocks noGrp="1"/>
          </p:cNvGraphicFramePr>
          <p:nvPr/>
        </p:nvGraphicFramePr>
        <p:xfrm>
          <a:off x="566928" y="1234440"/>
          <a:ext cx="7040880" cy="1517904"/>
        </p:xfrm>
        <a:graphic>
          <a:graphicData uri="http://schemas.openxmlformats.org/drawingml/2006/table">
            <a:tbl>
              <a:tblPr>
                <a:tableStyleId>{5C22544A-7EE6-4342-B048-85BDC9FD1C3A}</a:tableStyleId>
              </a:tblPr>
              <a:tblGrid>
                <a:gridCol w="26517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365760">
                <a:tc>
                  <a:txBody>
                    <a:bodyPr/>
                    <a:lstStyle/>
                    <a:p>
                      <a:pPr algn="l"/>
                      <a:r>
                        <a:rPr sz="1200" b="1" i="0">
                          <a:solidFill>
                            <a:srgbClr val="FFFFFF"/>
                          </a:solidFill>
                          <a:latin typeface="Segoe UI Semibold"/>
                        </a:rPr>
                        <a:t>Cấu hình</a:t>
                      </a:r>
                    </a:p>
                  </a:txBody>
                  <a:tcPr marL="76200" marR="76200" marT="25400" marB="25400" anchor="ctr">
                    <a:solidFill>
                      <a:srgbClr val="003366"/>
                    </a:solidFill>
                  </a:tcPr>
                </a:tc>
                <a:tc>
                  <a:txBody>
                    <a:bodyPr/>
                    <a:lstStyle/>
                    <a:p>
                      <a:pPr algn="ctr"/>
                      <a:r>
                        <a:rPr sz="1200" b="1" i="0">
                          <a:solidFill>
                            <a:srgbClr val="FFFFFF"/>
                          </a:solidFill>
                          <a:latin typeface="Segoe UI Semibold"/>
                        </a:rPr>
                        <a:t>R² gộp</a:t>
                      </a:r>
                    </a:p>
                  </a:txBody>
                  <a:tcPr marL="76200" marR="76200" marT="25400" marB="25400" anchor="ctr">
                    <a:solidFill>
                      <a:srgbClr val="003366"/>
                    </a:solidFill>
                  </a:tcPr>
                </a:tc>
                <a:tc>
                  <a:txBody>
                    <a:bodyPr/>
                    <a:lstStyle/>
                    <a:p>
                      <a:pPr algn="ctr"/>
                      <a:r>
                        <a:rPr sz="1200" b="1" i="0">
                          <a:solidFill>
                            <a:srgbClr val="FFFFFF"/>
                          </a:solidFill>
                          <a:latin typeface="Segoe UI Semibold"/>
                        </a:rPr>
                        <a:t>R² TB trạm</a:t>
                      </a:r>
                    </a:p>
                  </a:txBody>
                  <a:tcPr marL="76200" marR="76200" marT="25400" marB="25400" anchor="ctr">
                    <a:solidFill>
                      <a:srgbClr val="003366"/>
                    </a:solidFill>
                  </a:tcPr>
                </a:tc>
                <a:tc>
                  <a:txBody>
                    <a:bodyPr/>
                    <a:lstStyle/>
                    <a:p>
                      <a:pPr algn="ctr"/>
                      <a:r>
                        <a:rPr sz="1200" b="1" i="0">
                          <a:solidFill>
                            <a:srgbClr val="FFFFFF"/>
                          </a:solidFill>
                          <a:latin typeface="Segoe UI Semibold"/>
                        </a:rPr>
                        <a:t>R² trung vị</a:t>
                      </a:r>
                    </a:p>
                  </a:txBody>
                  <a:tcPr marL="76200" marR="76200" marT="25400" marB="25400" anchor="ctr">
                    <a:solidFill>
                      <a:srgbClr val="003366"/>
                    </a:solidFill>
                  </a:tcPr>
                </a:tc>
                <a:tc>
                  <a:txBody>
                    <a:bodyPr/>
                    <a:lstStyle/>
                    <a:p>
                      <a:pPr algn="ctr"/>
                      <a:r>
                        <a:rPr sz="1200" b="1" i="0">
                          <a:solidFill>
                            <a:srgbClr val="FFFFFF"/>
                          </a:solidFill>
                          <a:latin typeface="Segoe UI Semibold"/>
                        </a:rPr>
                        <a:t>R² dương</a:t>
                      </a:r>
                    </a:p>
                  </a:txBody>
                  <a:tcPr marL="76200" marR="76200" marT="25400" marB="25400" anchor="ctr">
                    <a:solidFill>
                      <a:srgbClr val="003366"/>
                    </a:solidFill>
                  </a:tcPr>
                </a:tc>
                <a:extLst>
                  <a:ext uri="{0D108BD9-81ED-4DB2-BD59-A6C34878D82A}">
                    <a16:rowId xmlns:a16="http://schemas.microsoft.com/office/drawing/2014/main" val="10000"/>
                  </a:ext>
                </a:extLst>
              </a:tr>
              <a:tr h="384048">
                <a:tc>
                  <a:txBody>
                    <a:bodyPr/>
                    <a:lstStyle/>
                    <a:p>
                      <a:pPr algn="l"/>
                      <a:r>
                        <a:rPr sz="1250" b="1" i="0">
                          <a:solidFill>
                            <a:srgbClr val="1C2634"/>
                          </a:solidFill>
                          <a:latin typeface="Segoe UI"/>
                        </a:rPr>
                        <a:t>Vệ tinh và khí tượng</a:t>
                      </a:r>
                    </a:p>
                  </a:txBody>
                  <a:tcPr marL="76200" marR="76200" marT="12700" marB="12700" anchor="ctr">
                    <a:solidFill>
                      <a:srgbClr val="FFFFFF"/>
                    </a:solidFill>
                  </a:tcPr>
                </a:tc>
                <a:tc>
                  <a:txBody>
                    <a:bodyPr/>
                    <a:lstStyle/>
                    <a:p>
                      <a:pPr algn="ctr"/>
                      <a:r>
                        <a:rPr sz="1250" b="0" i="0">
                          <a:solidFill>
                            <a:srgbClr val="1C2634"/>
                          </a:solidFill>
                          <a:latin typeface="Segoe UI"/>
                        </a:rPr>
                        <a:t>0,2899</a:t>
                      </a:r>
                    </a:p>
                  </a:txBody>
                  <a:tcPr marL="76200" marR="76200" marT="12700" marB="12700" anchor="ctr">
                    <a:solidFill>
                      <a:srgbClr val="FFFFFF"/>
                    </a:solidFill>
                  </a:tcPr>
                </a:tc>
                <a:tc>
                  <a:txBody>
                    <a:bodyPr/>
                    <a:lstStyle/>
                    <a:p>
                      <a:pPr algn="ctr"/>
                      <a:r>
                        <a:rPr sz="1250" b="0" i="0">
                          <a:solidFill>
                            <a:srgbClr val="1C2634"/>
                          </a:solidFill>
                          <a:latin typeface="Segoe UI"/>
                        </a:rPr>
                        <a:t>0,1791</a:t>
                      </a:r>
                    </a:p>
                  </a:txBody>
                  <a:tcPr marL="76200" marR="76200" marT="12700" marB="12700" anchor="ctr">
                    <a:solidFill>
                      <a:srgbClr val="FFFFFF"/>
                    </a:solidFill>
                  </a:tcPr>
                </a:tc>
                <a:tc>
                  <a:txBody>
                    <a:bodyPr/>
                    <a:lstStyle/>
                    <a:p>
                      <a:pPr algn="ctr"/>
                      <a:r>
                        <a:rPr sz="1250" b="0" i="0">
                          <a:solidFill>
                            <a:srgbClr val="1C2634"/>
                          </a:solidFill>
                          <a:latin typeface="Segoe UI"/>
                        </a:rPr>
                        <a:t>0,2689</a:t>
                      </a:r>
                    </a:p>
                  </a:txBody>
                  <a:tcPr marL="76200" marR="76200" marT="12700" marB="12700" anchor="ctr">
                    <a:solidFill>
                      <a:srgbClr val="FFFFFF"/>
                    </a:solidFill>
                  </a:tcPr>
                </a:tc>
                <a:tc>
                  <a:txBody>
                    <a:bodyPr/>
                    <a:lstStyle/>
                    <a:p>
                      <a:pPr algn="ctr"/>
                      <a:r>
                        <a:rPr sz="1250" b="0" i="0">
                          <a:solidFill>
                            <a:srgbClr val="1C2634"/>
                          </a:solidFill>
                          <a:latin typeface="Segoe UI"/>
                        </a:rPr>
                        <a:t>75%</a:t>
                      </a:r>
                    </a:p>
                  </a:txBody>
                  <a:tcPr marL="76200" marR="76200" marT="12700" marB="12700" anchor="ctr">
                    <a:solidFill>
                      <a:srgbClr val="FFFFFF"/>
                    </a:solidFill>
                  </a:tcPr>
                </a:tc>
                <a:extLst>
                  <a:ext uri="{0D108BD9-81ED-4DB2-BD59-A6C34878D82A}">
                    <a16:rowId xmlns:a16="http://schemas.microsoft.com/office/drawing/2014/main" val="10001"/>
                  </a:ext>
                </a:extLst>
              </a:tr>
              <a:tr h="384048">
                <a:tc>
                  <a:txBody>
                    <a:bodyPr/>
                    <a:lstStyle/>
                    <a:p>
                      <a:pPr algn="l"/>
                      <a:r>
                        <a:rPr sz="1250" b="1" i="0">
                          <a:solidFill>
                            <a:srgbClr val="1C2634"/>
                          </a:solidFill>
                          <a:latin typeface="Segoe UI"/>
                        </a:rPr>
                        <a:t>+ RFSI</a:t>
                      </a:r>
                    </a:p>
                  </a:txBody>
                  <a:tcPr marL="76200" marR="76200" marT="12700" marB="12700" anchor="ctr">
                    <a:solidFill>
                      <a:srgbClr val="EEF2F7"/>
                    </a:solidFill>
                  </a:tcPr>
                </a:tc>
                <a:tc>
                  <a:txBody>
                    <a:bodyPr/>
                    <a:lstStyle/>
                    <a:p>
                      <a:pPr algn="ctr"/>
                      <a:r>
                        <a:rPr sz="1250" b="0" i="0">
                          <a:solidFill>
                            <a:srgbClr val="1C2634"/>
                          </a:solidFill>
                          <a:latin typeface="Segoe UI"/>
                        </a:rPr>
                        <a:t>0,4151</a:t>
                      </a:r>
                    </a:p>
                  </a:txBody>
                  <a:tcPr marL="76200" marR="76200" marT="12700" marB="12700" anchor="ctr">
                    <a:solidFill>
                      <a:srgbClr val="EEF2F7"/>
                    </a:solidFill>
                  </a:tcPr>
                </a:tc>
                <a:tc>
                  <a:txBody>
                    <a:bodyPr/>
                    <a:lstStyle/>
                    <a:p>
                      <a:pPr algn="ctr"/>
                      <a:r>
                        <a:rPr sz="1250" b="0" i="0">
                          <a:solidFill>
                            <a:srgbClr val="1C2634"/>
                          </a:solidFill>
                          <a:latin typeface="Segoe UI"/>
                        </a:rPr>
                        <a:t>0,2621</a:t>
                      </a:r>
                    </a:p>
                  </a:txBody>
                  <a:tcPr marL="76200" marR="76200" marT="12700" marB="12700" anchor="ctr">
                    <a:solidFill>
                      <a:srgbClr val="EEF2F7"/>
                    </a:solidFill>
                  </a:tcPr>
                </a:tc>
                <a:tc>
                  <a:txBody>
                    <a:bodyPr/>
                    <a:lstStyle/>
                    <a:p>
                      <a:pPr algn="ctr"/>
                      <a:r>
                        <a:rPr sz="1250" b="0" i="0">
                          <a:solidFill>
                            <a:srgbClr val="1C2634"/>
                          </a:solidFill>
                          <a:latin typeface="Segoe UI"/>
                        </a:rPr>
                        <a:t>0,4194</a:t>
                      </a:r>
                    </a:p>
                  </a:txBody>
                  <a:tcPr marL="76200" marR="76200" marT="12700" marB="12700" anchor="ctr">
                    <a:solidFill>
                      <a:srgbClr val="EEF2F7"/>
                    </a:solidFill>
                  </a:tcPr>
                </a:tc>
                <a:tc>
                  <a:txBody>
                    <a:bodyPr/>
                    <a:lstStyle/>
                    <a:p>
                      <a:pPr algn="ctr"/>
                      <a:r>
                        <a:rPr sz="1250" b="0" i="0">
                          <a:solidFill>
                            <a:srgbClr val="1C2634"/>
                          </a:solidFill>
                          <a:latin typeface="Segoe UI"/>
                        </a:rPr>
                        <a:t>83%</a:t>
                      </a:r>
                    </a:p>
                  </a:txBody>
                  <a:tcPr marL="76200" marR="76200" marT="12700" marB="12700" anchor="ctr">
                    <a:solidFill>
                      <a:srgbClr val="EEF2F7"/>
                    </a:solidFill>
                  </a:tcPr>
                </a:tc>
                <a:extLst>
                  <a:ext uri="{0D108BD9-81ED-4DB2-BD59-A6C34878D82A}">
                    <a16:rowId xmlns:a16="http://schemas.microsoft.com/office/drawing/2014/main" val="10002"/>
                  </a:ext>
                </a:extLst>
              </a:tr>
              <a:tr h="384048">
                <a:tc>
                  <a:txBody>
                    <a:bodyPr/>
                    <a:lstStyle/>
                    <a:p>
                      <a:pPr algn="l"/>
                      <a:r>
                        <a:rPr sz="1250" b="1" i="0">
                          <a:solidFill>
                            <a:srgbClr val="C02034"/>
                          </a:solidFill>
                          <a:latin typeface="Segoe UI Semibold"/>
                        </a:rPr>
                        <a:t>+ RFSI và gió</a:t>
                      </a:r>
                    </a:p>
                  </a:txBody>
                  <a:tcPr marL="76200" marR="76200" marT="12700" marB="12700" anchor="ctr">
                    <a:solidFill>
                      <a:srgbClr val="FCF0F2"/>
                    </a:solidFill>
                  </a:tcPr>
                </a:tc>
                <a:tc>
                  <a:txBody>
                    <a:bodyPr/>
                    <a:lstStyle/>
                    <a:p>
                      <a:pPr algn="ctr"/>
                      <a:r>
                        <a:rPr sz="1250" b="1" i="0">
                          <a:solidFill>
                            <a:srgbClr val="1C2634"/>
                          </a:solidFill>
                          <a:latin typeface="Segoe UI Semibold"/>
                        </a:rPr>
                        <a:t>0,4220</a:t>
                      </a:r>
                    </a:p>
                  </a:txBody>
                  <a:tcPr marL="76200" marR="76200" marT="12700" marB="12700" anchor="ctr">
                    <a:solidFill>
                      <a:srgbClr val="FCF0F2"/>
                    </a:solidFill>
                  </a:tcPr>
                </a:tc>
                <a:tc>
                  <a:txBody>
                    <a:bodyPr/>
                    <a:lstStyle/>
                    <a:p>
                      <a:pPr algn="ctr"/>
                      <a:r>
                        <a:rPr sz="1250" b="1" i="0">
                          <a:solidFill>
                            <a:srgbClr val="1C2634"/>
                          </a:solidFill>
                          <a:latin typeface="Segoe UI Semibold"/>
                        </a:rPr>
                        <a:t>0,2671</a:t>
                      </a:r>
                    </a:p>
                  </a:txBody>
                  <a:tcPr marL="76200" marR="76200" marT="12700" marB="12700" anchor="ctr">
                    <a:solidFill>
                      <a:srgbClr val="FCF0F2"/>
                    </a:solidFill>
                  </a:tcPr>
                </a:tc>
                <a:tc>
                  <a:txBody>
                    <a:bodyPr/>
                    <a:lstStyle/>
                    <a:p>
                      <a:pPr algn="ctr"/>
                      <a:r>
                        <a:rPr sz="1250" b="1" i="0">
                          <a:solidFill>
                            <a:srgbClr val="1C2634"/>
                          </a:solidFill>
                          <a:latin typeface="Segoe UI Semibold"/>
                        </a:rPr>
                        <a:t>0,3904</a:t>
                      </a:r>
                    </a:p>
                  </a:txBody>
                  <a:tcPr marL="76200" marR="76200" marT="12700" marB="12700" anchor="ctr">
                    <a:solidFill>
                      <a:srgbClr val="FCF0F2"/>
                    </a:solidFill>
                  </a:tcPr>
                </a:tc>
                <a:tc>
                  <a:txBody>
                    <a:bodyPr/>
                    <a:lstStyle/>
                    <a:p>
                      <a:pPr algn="ctr"/>
                      <a:r>
                        <a:rPr sz="1250" b="1" i="0">
                          <a:solidFill>
                            <a:srgbClr val="1C2634"/>
                          </a:solidFill>
                          <a:latin typeface="Segoe UI Semibold"/>
                        </a:rPr>
                        <a:t>83%</a:t>
                      </a:r>
                    </a:p>
                  </a:txBody>
                  <a:tcPr marL="76200" marR="76200" marT="12700" marB="12700" anchor="ctr">
                    <a:solidFill>
                      <a:srgbClr val="FCF0F2"/>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566928" y="3977639"/>
            <a:ext cx="7040880" cy="1828800"/>
          </a:xfrm>
          <a:prstGeom prst="rect">
            <a:avLst/>
          </a:prstGeom>
          <a:noFill/>
        </p:spPr>
        <p:txBody>
          <a:bodyPr wrap="square" lIns="0" tIns="0" rIns="0" bIns="0" anchor="t">
            <a:spAutoFit/>
          </a:bodyPr>
          <a:lstStyle/>
          <a:p>
            <a:pPr algn="l">
              <a:lnSpc>
                <a:spcPct val="112000"/>
              </a:lnSpc>
            </a:pPr>
            <a:r>
              <a:rPr sz="1450" b="1" i="0">
                <a:solidFill>
                  <a:srgbClr val="1C2634"/>
                </a:solidFill>
                <a:latin typeface="Segoe UI"/>
              </a:rPr>
              <a:t>RFSI là bước cải thiện chính </a:t>
            </a:r>
            <a:r>
              <a:rPr sz="1450" b="0" i="0">
                <a:solidFill>
                  <a:srgbClr val="1C2634"/>
                </a:solidFill>
                <a:latin typeface="Segoe UI"/>
              </a:rPr>
              <a:t>(R² gộp 0,29 → 0,415). Thành phần xét hướng gió đưa R² lên 0,422.</a:t>
            </a:r>
          </a:p>
        </p:txBody>
      </p:sp>
      <p:sp>
        <p:nvSpPr>
          <p:cNvPr id="7" name="Rounded Rectangle 6"/>
          <p:cNvSpPr/>
          <p:nvPr/>
        </p:nvSpPr>
        <p:spPr>
          <a:xfrm>
            <a:off x="7818120" y="1234440"/>
            <a:ext cx="3749039" cy="1078992"/>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818120" y="1234440"/>
            <a:ext cx="82296" cy="1078992"/>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19288" y="1362456"/>
            <a:ext cx="3438143" cy="859536"/>
          </a:xfrm>
          <a:prstGeom prst="rect">
            <a:avLst/>
          </a:prstGeom>
          <a:noFill/>
        </p:spPr>
        <p:txBody>
          <a:bodyPr wrap="square" lIns="0" tIns="0" rIns="0" bIns="0" anchor="ctr">
            <a:spAutoFit/>
          </a:bodyPr>
          <a:lstStyle/>
          <a:p>
            <a:pPr algn="l"/>
            <a:r>
              <a:rPr sz="2700" b="1" i="0">
                <a:solidFill>
                  <a:srgbClr val="003366"/>
                </a:solidFill>
                <a:latin typeface="Segoe UI Semibold"/>
              </a:rPr>
              <a:t>0,4220</a:t>
            </a:r>
          </a:p>
          <a:p>
            <a:pPr algn="l">
              <a:lnSpc>
                <a:spcPct val="100000"/>
              </a:lnSpc>
              <a:spcBef>
                <a:spcPts val="200"/>
              </a:spcBef>
            </a:pPr>
            <a:r>
              <a:rPr sz="1200" b="0" i="0">
                <a:solidFill>
                  <a:srgbClr val="5A5F69"/>
                </a:solidFill>
                <a:latin typeface="Segoe UI"/>
              </a:rPr>
              <a:t>R² gộp theo giờ</a:t>
            </a:r>
          </a:p>
        </p:txBody>
      </p:sp>
      <p:sp>
        <p:nvSpPr>
          <p:cNvPr id="10" name="Rounded Rectangle 9"/>
          <p:cNvSpPr/>
          <p:nvPr/>
        </p:nvSpPr>
        <p:spPr>
          <a:xfrm>
            <a:off x="7818120" y="2450592"/>
            <a:ext cx="3749039" cy="1078992"/>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818120" y="2450592"/>
            <a:ext cx="82296" cy="1078992"/>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19288" y="2578608"/>
            <a:ext cx="3438143" cy="859536"/>
          </a:xfrm>
          <a:prstGeom prst="rect">
            <a:avLst/>
          </a:prstGeom>
          <a:noFill/>
        </p:spPr>
        <p:txBody>
          <a:bodyPr wrap="square" lIns="0" tIns="0" rIns="0" bIns="0" anchor="ctr">
            <a:spAutoFit/>
          </a:bodyPr>
          <a:lstStyle/>
          <a:p>
            <a:pPr algn="l"/>
            <a:r>
              <a:rPr sz="2700" b="1" i="0">
                <a:solidFill>
                  <a:srgbClr val="003366"/>
                </a:solidFill>
                <a:latin typeface="Segoe UI Semibold"/>
              </a:rPr>
              <a:t>0,4894</a:t>
            </a:r>
          </a:p>
          <a:p>
            <a:pPr algn="l">
              <a:lnSpc>
                <a:spcPct val="100000"/>
              </a:lnSpc>
              <a:spcBef>
                <a:spcPts val="200"/>
              </a:spcBef>
            </a:pPr>
            <a:r>
              <a:rPr sz="1200" b="0" i="0">
                <a:solidFill>
                  <a:srgbClr val="5A5F69"/>
                </a:solidFill>
                <a:latin typeface="Segoe UI"/>
              </a:rPr>
              <a:t>R² gộp theo ngày</a:t>
            </a:r>
          </a:p>
        </p:txBody>
      </p:sp>
      <p:sp>
        <p:nvSpPr>
          <p:cNvPr id="13" name="Rounded Rectangle 12"/>
          <p:cNvSpPr/>
          <p:nvPr/>
        </p:nvSpPr>
        <p:spPr>
          <a:xfrm>
            <a:off x="7818120" y="3666744"/>
            <a:ext cx="3749039" cy="1078992"/>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818120" y="3666744"/>
            <a:ext cx="82296" cy="1078992"/>
          </a:xfrm>
          <a:prstGeom prst="roundRect">
            <a:avLst>
              <a:gd name="adj" fmla="val 50000"/>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19288" y="3794760"/>
            <a:ext cx="3438143" cy="859536"/>
          </a:xfrm>
          <a:prstGeom prst="rect">
            <a:avLst/>
          </a:prstGeom>
          <a:noFill/>
        </p:spPr>
        <p:txBody>
          <a:bodyPr wrap="square" lIns="0" tIns="0" rIns="0" bIns="0" anchor="ctr">
            <a:spAutoFit/>
          </a:bodyPr>
          <a:lstStyle/>
          <a:p>
            <a:pPr algn="l"/>
            <a:r>
              <a:rPr sz="2700" b="1" i="0">
                <a:solidFill>
                  <a:srgbClr val="C02034"/>
                </a:solidFill>
                <a:latin typeface="Segoe UI Semibold"/>
              </a:rPr>
              <a:t>24,5 µg/m³</a:t>
            </a:r>
          </a:p>
          <a:p>
            <a:pPr algn="l">
              <a:lnSpc>
                <a:spcPct val="100000"/>
              </a:lnSpc>
              <a:spcBef>
                <a:spcPts val="200"/>
              </a:spcBef>
            </a:pPr>
            <a:r>
              <a:rPr sz="1200" b="0" i="0">
                <a:solidFill>
                  <a:srgbClr val="5A5F69"/>
                </a:solidFill>
                <a:latin typeface="Segoe UI"/>
              </a:rPr>
              <a:t>RMSE theo giờ</a:t>
            </a:r>
          </a:p>
        </p:txBody>
      </p:sp>
      <p:sp>
        <p:nvSpPr>
          <p:cNvPr id="16" name="Rounded Rectangle 15"/>
          <p:cNvSpPr/>
          <p:nvPr/>
        </p:nvSpPr>
        <p:spPr>
          <a:xfrm>
            <a:off x="7818120" y="4882896"/>
            <a:ext cx="3749039" cy="1078992"/>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818120" y="4882896"/>
            <a:ext cx="82296" cy="1078992"/>
          </a:xfrm>
          <a:prstGeom prst="roundRect">
            <a:avLst>
              <a:gd name="adj" fmla="val 50000"/>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19288" y="5010912"/>
            <a:ext cx="3438143" cy="859536"/>
          </a:xfrm>
          <a:prstGeom prst="rect">
            <a:avLst/>
          </a:prstGeom>
          <a:noFill/>
        </p:spPr>
        <p:txBody>
          <a:bodyPr wrap="square" lIns="0" tIns="0" rIns="0" bIns="0" anchor="ctr">
            <a:spAutoFit/>
          </a:bodyPr>
          <a:lstStyle/>
          <a:p>
            <a:pPr algn="l"/>
            <a:r>
              <a:rPr sz="2700" b="1" i="0">
                <a:solidFill>
                  <a:srgbClr val="C02034"/>
                </a:solidFill>
                <a:latin typeface="Segoe UI Semibold"/>
              </a:rPr>
              <a:t>83%</a:t>
            </a:r>
          </a:p>
          <a:p>
            <a:pPr algn="l">
              <a:lnSpc>
                <a:spcPct val="100000"/>
              </a:lnSpc>
              <a:spcBef>
                <a:spcPts val="200"/>
              </a:spcBef>
            </a:pPr>
            <a:r>
              <a:rPr sz="1200" b="0" i="0">
                <a:solidFill>
                  <a:srgbClr val="5A5F69"/>
                </a:solidFill>
                <a:latin typeface="Segoe UI"/>
              </a:rPr>
              <a:t>tỷ lệ trạm có R² dương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5A5F69"/>
                </a:solidFill>
                <a:latin typeface="Segoe UI"/>
              </a:rPr>
              <a:t>18</a:t>
            </a:r>
          </a:p>
        </p:txBody>
      </p:sp>
      <p:sp>
        <p:nvSpPr>
          <p:cNvPr id="4" name="TextBox 3"/>
          <p:cNvSpPr txBox="1"/>
          <p:nvPr/>
        </p:nvSpPr>
        <p:spPr>
          <a:xfrm>
            <a:off x="566928" y="91440"/>
            <a:ext cx="11064240" cy="658368"/>
          </a:xfrm>
          <a:prstGeom prst="rect">
            <a:avLst/>
          </a:prstGeom>
          <a:noFill/>
        </p:spPr>
        <p:txBody>
          <a:bodyPr wrap="square" lIns="0" tIns="0" rIns="0" bIns="0" anchor="ctr">
            <a:spAutoFit/>
          </a:bodyPr>
          <a:lstStyle/>
          <a:p>
            <a:pPr algn="l"/>
            <a:r>
              <a:rPr sz="2500" b="1" i="0">
                <a:solidFill>
                  <a:srgbClr val="FFFFFF"/>
                </a:solidFill>
                <a:latin typeface="Segoe UI Semibold"/>
              </a:rPr>
              <a:t>Mức đóng góp theo nhóm đặc trưng</a:t>
            </a:r>
          </a:p>
        </p:txBody>
      </p:sp>
      <p:pic>
        <p:nvPicPr>
          <p:cNvPr id="5" name="Picture 4" descr="fig_5_feature_gain_groups.png"/>
          <p:cNvPicPr>
            <a:picLocks noChangeAspect="1"/>
          </p:cNvPicPr>
          <p:nvPr/>
        </p:nvPicPr>
        <p:blipFill>
          <a:blip r:embed="rId3"/>
          <a:stretch>
            <a:fillRect/>
          </a:stretch>
        </p:blipFill>
        <p:spPr>
          <a:xfrm>
            <a:off x="502920" y="1777675"/>
            <a:ext cx="7680960" cy="3403233"/>
          </a:xfrm>
          <a:prstGeom prst="rect">
            <a:avLst/>
          </a:prstGeom>
        </p:spPr>
      </p:pic>
      <p:sp>
        <p:nvSpPr>
          <p:cNvPr id="6" name="Rounded Rectangle 5"/>
          <p:cNvSpPr/>
          <p:nvPr/>
        </p:nvSpPr>
        <p:spPr>
          <a:xfrm>
            <a:off x="8412480" y="1280160"/>
            <a:ext cx="3200400" cy="4480560"/>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412480" y="1280160"/>
            <a:ext cx="82296" cy="4480560"/>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50224" y="1389888"/>
            <a:ext cx="2816352" cy="4279392"/>
          </a:xfrm>
          <a:prstGeom prst="rect">
            <a:avLst/>
          </a:prstGeom>
          <a:noFill/>
        </p:spPr>
        <p:txBody>
          <a:bodyPr wrap="square" lIns="0" tIns="0" rIns="0" bIns="0" anchor="ctr">
            <a:spAutoFit/>
          </a:bodyPr>
          <a:lstStyle/>
          <a:p>
            <a:pPr algn="l">
              <a:spcAft>
                <a:spcPts val="400"/>
              </a:spcAft>
            </a:pPr>
            <a:r>
              <a:rPr sz="1300" b="1" i="0">
                <a:solidFill>
                  <a:srgbClr val="003366"/>
                </a:solidFill>
                <a:latin typeface="Segoe UI Semibold"/>
              </a:rPr>
              <a:t>Ý nghĩa</a:t>
            </a:r>
          </a:p>
          <a:p>
            <a:pPr algn="l">
              <a:lnSpc>
                <a:spcPct val="108000"/>
              </a:lnSpc>
            </a:pPr>
            <a:r>
              <a:rPr sz="1450" b="0" i="0">
                <a:solidFill>
                  <a:srgbClr val="1C2634"/>
                </a:solidFill>
                <a:latin typeface="Segoe UI"/>
              </a:rPr>
              <a:t>RFSI bổ sung quan trắc PM2.5 gần mặt đất từ các trạm neo đang hoạt động.
Vì vậy mô hình phù hợp hơn tại khu vực có đủ trạm neo hoạt động cùng thời điểm.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5A5F69"/>
                </a:solidFill>
                <a:latin typeface="Segoe UI"/>
              </a:rPr>
              <a:t>19</a:t>
            </a:r>
          </a:p>
        </p:txBody>
      </p:sp>
      <p:sp>
        <p:nvSpPr>
          <p:cNvPr id="4" name="TextBox 3"/>
          <p:cNvSpPr txBox="1"/>
          <p:nvPr/>
        </p:nvSpPr>
        <p:spPr>
          <a:xfrm>
            <a:off x="566928" y="91440"/>
            <a:ext cx="11064240" cy="658368"/>
          </a:xfrm>
          <a:prstGeom prst="rect">
            <a:avLst/>
          </a:prstGeom>
          <a:noFill/>
        </p:spPr>
        <p:txBody>
          <a:bodyPr wrap="square" lIns="0" tIns="0" rIns="0" bIns="0" anchor="ctr">
            <a:spAutoFit/>
          </a:bodyPr>
          <a:lstStyle/>
          <a:p>
            <a:pPr algn="l"/>
            <a:r>
              <a:rPr sz="2500" b="1" i="0">
                <a:solidFill>
                  <a:srgbClr val="FFFFFF"/>
                </a:solidFill>
                <a:latin typeface="Segoe UI Semibold"/>
              </a:rPr>
              <a:t>Đánh giá ngoài tập nghiên cứu: Đại sứ quán và mạng LCS</a:t>
            </a:r>
          </a:p>
        </p:txBody>
      </p:sp>
      <p:pic>
        <p:nvPicPr>
          <p:cNvPr id="5" name="Picture 4" descr="fig_5_external_lcs_r2.png"/>
          <p:cNvPicPr>
            <a:picLocks noChangeAspect="1"/>
          </p:cNvPicPr>
          <p:nvPr/>
        </p:nvPicPr>
        <p:blipFill>
          <a:blip r:embed="rId3"/>
          <a:stretch>
            <a:fillRect/>
          </a:stretch>
        </p:blipFill>
        <p:spPr>
          <a:xfrm>
            <a:off x="457200" y="1466664"/>
            <a:ext cx="6400800" cy="4107552"/>
          </a:xfrm>
          <a:prstGeom prst="rect">
            <a:avLst/>
          </a:prstGeom>
        </p:spPr>
      </p:pic>
      <p:sp>
        <p:nvSpPr>
          <p:cNvPr id="6" name="Rounded Rectangle 5"/>
          <p:cNvSpPr/>
          <p:nvPr/>
        </p:nvSpPr>
        <p:spPr>
          <a:xfrm>
            <a:off x="7086600" y="1325880"/>
            <a:ext cx="4480560" cy="1097280"/>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086600" y="1325880"/>
            <a:ext cx="82296" cy="1097280"/>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287768" y="1453896"/>
            <a:ext cx="4169664" cy="877824"/>
          </a:xfrm>
          <a:prstGeom prst="rect">
            <a:avLst/>
          </a:prstGeom>
          <a:noFill/>
        </p:spPr>
        <p:txBody>
          <a:bodyPr wrap="square" lIns="0" tIns="0" rIns="0" bIns="0" anchor="ctr">
            <a:spAutoFit/>
          </a:bodyPr>
          <a:lstStyle/>
          <a:p>
            <a:pPr algn="l"/>
            <a:r>
              <a:rPr sz="2500" b="1" i="0">
                <a:solidFill>
                  <a:srgbClr val="003366"/>
                </a:solidFill>
                <a:latin typeface="Segoe UI Semibold"/>
              </a:rPr>
              <a:t>0,627 / 0,744</a:t>
            </a:r>
          </a:p>
          <a:p>
            <a:pPr algn="l">
              <a:lnSpc>
                <a:spcPct val="100000"/>
              </a:lnSpc>
              <a:spcBef>
                <a:spcPts val="200"/>
              </a:spcBef>
            </a:pPr>
            <a:r>
              <a:rPr sz="1200" b="0" i="0">
                <a:solidFill>
                  <a:srgbClr val="5A5F69"/>
                </a:solidFill>
                <a:latin typeface="Segoe UI"/>
              </a:rPr>
              <a:t>Đại sứ quán Hoa Kỳ — R² giờ / ngày</a:t>
            </a:r>
          </a:p>
        </p:txBody>
      </p:sp>
      <p:sp>
        <p:nvSpPr>
          <p:cNvPr id="9" name="Rounded Rectangle 8"/>
          <p:cNvSpPr/>
          <p:nvPr/>
        </p:nvSpPr>
        <p:spPr>
          <a:xfrm>
            <a:off x="7086600" y="2542032"/>
            <a:ext cx="4480560" cy="1097280"/>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086600" y="2542032"/>
            <a:ext cx="82296" cy="1097280"/>
          </a:xfrm>
          <a:prstGeom prst="roundRect">
            <a:avLst>
              <a:gd name="adj" fmla="val 50000"/>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87768" y="2670048"/>
            <a:ext cx="4169664" cy="877824"/>
          </a:xfrm>
          <a:prstGeom prst="rect">
            <a:avLst/>
          </a:prstGeom>
          <a:noFill/>
        </p:spPr>
        <p:txBody>
          <a:bodyPr wrap="square" lIns="0" tIns="0" rIns="0" bIns="0" anchor="ctr">
            <a:spAutoFit/>
          </a:bodyPr>
          <a:lstStyle/>
          <a:p>
            <a:pPr algn="l"/>
            <a:r>
              <a:rPr sz="2500" b="1" i="0">
                <a:solidFill>
                  <a:srgbClr val="C02034"/>
                </a:solidFill>
                <a:latin typeface="Segoe UI Semibold"/>
              </a:rPr>
              <a:t>0,182 / 0,158</a:t>
            </a:r>
          </a:p>
          <a:p>
            <a:pPr algn="l">
              <a:lnSpc>
                <a:spcPct val="100000"/>
              </a:lnSpc>
              <a:spcBef>
                <a:spcPts val="200"/>
              </a:spcBef>
            </a:pPr>
            <a:r>
              <a:rPr sz="1200" b="0" i="0">
                <a:solidFill>
                  <a:srgbClr val="5A5F69"/>
                </a:solidFill>
                <a:latin typeface="Segoe UI"/>
              </a:rPr>
              <a:t>R² trung vị của LCS — giờ / ngày</a:t>
            </a:r>
          </a:p>
        </p:txBody>
      </p:sp>
      <p:sp>
        <p:nvSpPr>
          <p:cNvPr id="12" name="Rounded Rectangle 11"/>
          <p:cNvSpPr/>
          <p:nvPr/>
        </p:nvSpPr>
        <p:spPr>
          <a:xfrm>
            <a:off x="7086600" y="3758184"/>
            <a:ext cx="4480560" cy="1097280"/>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086600" y="3758184"/>
            <a:ext cx="82296" cy="1097280"/>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87768" y="3886200"/>
            <a:ext cx="4169664" cy="877824"/>
          </a:xfrm>
          <a:prstGeom prst="rect">
            <a:avLst/>
          </a:prstGeom>
          <a:noFill/>
        </p:spPr>
        <p:txBody>
          <a:bodyPr wrap="square" lIns="0" tIns="0" rIns="0" bIns="0" anchor="ctr">
            <a:spAutoFit/>
          </a:bodyPr>
          <a:lstStyle/>
          <a:p>
            <a:pPr algn="l"/>
            <a:r>
              <a:rPr sz="2500" b="1" i="0">
                <a:solidFill>
                  <a:srgbClr val="003366"/>
                </a:solidFill>
                <a:latin typeface="Segoe UI Semibold"/>
              </a:rPr>
              <a:t>63% / 59%</a:t>
            </a:r>
          </a:p>
          <a:p>
            <a:pPr algn="l">
              <a:lnSpc>
                <a:spcPct val="100000"/>
              </a:lnSpc>
              <a:spcBef>
                <a:spcPts val="200"/>
              </a:spcBef>
            </a:pPr>
            <a:r>
              <a:rPr sz="1200" b="0" i="0">
                <a:solidFill>
                  <a:srgbClr val="5A5F69"/>
                </a:solidFill>
                <a:latin typeface="Segoe UI"/>
              </a:rPr>
              <a:t>Tỷ lệ LCS có R² dương — giờ / ngày</a:t>
            </a:r>
          </a:p>
        </p:txBody>
      </p:sp>
      <p:sp>
        <p:nvSpPr>
          <p:cNvPr id="15" name="Rounded Rectangle 14"/>
          <p:cNvSpPr/>
          <p:nvPr/>
        </p:nvSpPr>
        <p:spPr>
          <a:xfrm>
            <a:off x="7086600" y="4983480"/>
            <a:ext cx="4480560" cy="1051560"/>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086600" y="4983480"/>
            <a:ext cx="82296" cy="1051560"/>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24344" y="5093208"/>
            <a:ext cx="4096512" cy="850392"/>
          </a:xfrm>
          <a:prstGeom prst="rect">
            <a:avLst/>
          </a:prstGeom>
          <a:noFill/>
        </p:spPr>
        <p:txBody>
          <a:bodyPr wrap="square" lIns="0" tIns="0" rIns="0" bIns="0" anchor="ctr">
            <a:spAutoFit/>
          </a:bodyPr>
          <a:lstStyle/>
          <a:p>
            <a:pPr algn="l">
              <a:lnSpc>
                <a:spcPct val="108000"/>
              </a:lnSpc>
            </a:pPr>
            <a:r>
              <a:rPr sz="1400" b="0" i="0">
                <a:solidFill>
                  <a:srgbClr val="1C2634"/>
                </a:solidFill>
                <a:latin typeface="Segoe UI"/>
              </a:rPr>
              <a:t>Đại sứ quán cung cấp chuỗi tham chiếu chất lượng cao; mạng LCS mở rộng đánh giá sang 41 vị trí trong vùng.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5A5F69"/>
                </a:solidFill>
                <a:latin typeface="Segoe UI"/>
              </a:rPr>
              <a:t>20</a:t>
            </a:r>
          </a:p>
        </p:txBody>
      </p:sp>
      <p:sp>
        <p:nvSpPr>
          <p:cNvPr id="4" name="TextBox 3"/>
          <p:cNvSpPr txBox="1"/>
          <p:nvPr/>
        </p:nvSpPr>
        <p:spPr>
          <a:xfrm>
            <a:off x="566928" y="91440"/>
            <a:ext cx="11064240" cy="658368"/>
          </a:xfrm>
          <a:prstGeom prst="rect">
            <a:avLst/>
          </a:prstGeom>
          <a:noFill/>
        </p:spPr>
        <p:txBody>
          <a:bodyPr wrap="square" lIns="0" tIns="0" rIns="0" bIns="0" anchor="ctr">
            <a:spAutoFit/>
          </a:bodyPr>
          <a:lstStyle/>
          <a:p>
            <a:pPr algn="l"/>
            <a:r>
              <a:rPr sz="2500" b="1" i="0">
                <a:solidFill>
                  <a:srgbClr val="FFFFFF"/>
                </a:solidFill>
                <a:latin typeface="Segoe UI Semibold"/>
              </a:rPr>
              <a:t>Bản đồ PM2.5 trên lưới 0,02° — đồng bằng sông Hồng</a:t>
            </a:r>
          </a:p>
        </p:txBody>
      </p:sp>
      <p:pic>
        <p:nvPicPr>
          <p:cNvPr id="5" name="Picture 4" descr="fig_pm25_maps.png"/>
          <p:cNvPicPr>
            <a:picLocks noChangeAspect="1"/>
          </p:cNvPicPr>
          <p:nvPr/>
        </p:nvPicPr>
        <p:blipFill>
          <a:blip r:embed="rId3"/>
          <a:stretch>
            <a:fillRect/>
          </a:stretch>
        </p:blipFill>
        <p:spPr>
          <a:xfrm>
            <a:off x="2127979" y="896112"/>
            <a:ext cx="7932994" cy="4864608"/>
          </a:xfrm>
          <a:prstGeom prst="rect">
            <a:avLst/>
          </a:prstGeom>
        </p:spPr>
      </p:pic>
      <p:sp>
        <p:nvSpPr>
          <p:cNvPr id="6" name="TextBox 5"/>
          <p:cNvSpPr txBox="1"/>
          <p:nvPr/>
        </p:nvSpPr>
        <p:spPr>
          <a:xfrm>
            <a:off x="566928" y="5852160"/>
            <a:ext cx="11064240" cy="402336"/>
          </a:xfrm>
          <a:prstGeom prst="rect">
            <a:avLst/>
          </a:prstGeom>
          <a:noFill/>
        </p:spPr>
        <p:txBody>
          <a:bodyPr wrap="square" lIns="0" tIns="0" rIns="0" bIns="0" anchor="t">
            <a:spAutoFit/>
          </a:bodyPr>
          <a:lstStyle/>
          <a:p>
            <a:pPr algn="ctr">
              <a:lnSpc>
                <a:spcPct val="105000"/>
              </a:lnSpc>
            </a:pPr>
            <a:r>
              <a:rPr sz="1150" b="1" i="0">
                <a:solidFill>
                  <a:srgbClr val="C02034"/>
                </a:solidFill>
                <a:latin typeface="Segoe UI Semibold"/>
              </a:rPr>
              <a:t>Lựa chọn thời điểm: </a:t>
            </a:r>
            <a:r>
              <a:rPr sz="1150" b="0" i="0">
                <a:solidFill>
                  <a:srgbClr val="1C2634"/>
                </a:solidFill>
                <a:latin typeface="Segoe UI"/>
              </a:rPr>
              <a:t>tháng 12 và tháng 7 đại diện hai mức ô nhiễm cao–thấp; 08h và 20h thể hiện biến đổi trong ngày. Tại 20h, đặc trưng AOD dùng giá trị gần nhất kèm thời gian kể từ quan sát đó; RFSI và khí tượng cập nhật theo giờ.</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5A5F69"/>
                </a:solidFill>
                <a:latin typeface="Segoe UI"/>
              </a:rPr>
              <a:t>21</a:t>
            </a:r>
          </a:p>
        </p:txBody>
      </p:sp>
      <p:sp>
        <p:nvSpPr>
          <p:cNvPr id="4" name="TextBox 3"/>
          <p:cNvSpPr txBox="1"/>
          <p:nvPr/>
        </p:nvSpPr>
        <p:spPr>
          <a:xfrm>
            <a:off x="566928" y="91440"/>
            <a:ext cx="11064240" cy="658368"/>
          </a:xfrm>
          <a:prstGeom prst="rect">
            <a:avLst/>
          </a:prstGeom>
          <a:noFill/>
        </p:spPr>
        <p:txBody>
          <a:bodyPr wrap="square" lIns="0" tIns="0" rIns="0" bIns="0" anchor="ctr">
            <a:spAutoFit/>
          </a:bodyPr>
          <a:lstStyle/>
          <a:p>
            <a:pPr algn="l"/>
            <a:r>
              <a:rPr sz="2500" b="1" i="0">
                <a:solidFill>
                  <a:srgbClr val="FFFFFF"/>
                </a:solidFill>
                <a:latin typeface="Segoe UI Semibold"/>
              </a:rPr>
              <a:t>Giới hạn: vị trí có bối cảnh khác mạng trạm neo</a:t>
            </a:r>
          </a:p>
        </p:txBody>
      </p:sp>
      <p:sp>
        <p:nvSpPr>
          <p:cNvPr id="5" name="Rounded Rectangle 4"/>
          <p:cNvSpPr/>
          <p:nvPr/>
        </p:nvSpPr>
        <p:spPr>
          <a:xfrm>
            <a:off x="566928" y="1280160"/>
            <a:ext cx="5486400" cy="2468880"/>
          </a:xfrm>
          <a:prstGeom prst="roundRect">
            <a:avLst>
              <a:gd name="adj" fmla="val 10000"/>
            </a:avLst>
          </a:prstGeom>
          <a:solidFill>
            <a:srgbClr val="FFFFFF"/>
          </a:solidFill>
          <a:ln w="19050">
            <a:solidFill>
              <a:srgbClr val="C02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463040"/>
            <a:ext cx="5029200" cy="2194560"/>
          </a:xfrm>
          <a:prstGeom prst="rect">
            <a:avLst/>
          </a:prstGeom>
          <a:noFill/>
        </p:spPr>
        <p:txBody>
          <a:bodyPr wrap="square" lIns="0" tIns="0" rIns="0" bIns="0" anchor="t">
            <a:spAutoFit/>
          </a:bodyPr>
          <a:lstStyle/>
          <a:p>
            <a:pPr algn="l">
              <a:spcAft>
                <a:spcPts val="600"/>
              </a:spcAft>
            </a:pPr>
            <a:r>
              <a:rPr sz="1600" b="1" i="0">
                <a:solidFill>
                  <a:srgbClr val="C02034"/>
                </a:solidFill>
                <a:latin typeface="Segoe UI Semibold"/>
              </a:rPr>
              <a:t>Hải Phòng — mức nền thấp so với tập huấn luyện</a:t>
            </a:r>
          </a:p>
          <a:p>
            <a:pPr algn="l">
              <a:lnSpc>
                <a:spcPct val="110000"/>
              </a:lnSpc>
              <a:spcAft>
                <a:spcPts val="600"/>
              </a:spcAft>
            </a:pPr>
            <a:r>
              <a:rPr sz="1450" b="0" i="0">
                <a:solidFill>
                  <a:srgbClr val="1C2634"/>
                </a:solidFill>
                <a:latin typeface="Segoe UI"/>
              </a:rPr>
              <a:t>PM2.5 trung bình chỉ 9,3 µg/m³ nhưng mô hình (huấn luyện ở vùng ô nhiễm cao) dự đoán quá cao.</a:t>
            </a:r>
          </a:p>
          <a:p>
            <a:pPr algn="l"/>
            <a:r>
              <a:rPr sz="1500" b="1" i="0">
                <a:solidFill>
                  <a:srgbClr val="C02034"/>
                </a:solidFill>
                <a:latin typeface="Segoe UI"/>
              </a:rPr>
              <a:t>R² theo giờ = −4,29</a:t>
            </a:r>
          </a:p>
        </p:txBody>
      </p:sp>
      <p:sp>
        <p:nvSpPr>
          <p:cNvPr id="7" name="Rounded Rectangle 6"/>
          <p:cNvSpPr/>
          <p:nvPr/>
        </p:nvSpPr>
        <p:spPr>
          <a:xfrm>
            <a:off x="6144768" y="1280160"/>
            <a:ext cx="5486400" cy="2468880"/>
          </a:xfrm>
          <a:prstGeom prst="roundRect">
            <a:avLst>
              <a:gd name="adj" fmla="val 10000"/>
            </a:avLst>
          </a:prstGeom>
          <a:solidFill>
            <a:srgbClr val="FFFFFF"/>
          </a:solidFill>
          <a:ln w="19050">
            <a:solidFill>
              <a:srgbClr val="C02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463040"/>
            <a:ext cx="5029200" cy="2194560"/>
          </a:xfrm>
          <a:prstGeom prst="rect">
            <a:avLst/>
          </a:prstGeom>
          <a:noFill/>
        </p:spPr>
        <p:txBody>
          <a:bodyPr wrap="square" lIns="0" tIns="0" rIns="0" bIns="0" anchor="t">
            <a:spAutoFit/>
          </a:bodyPr>
          <a:lstStyle/>
          <a:p>
            <a:pPr algn="l">
              <a:spcAft>
                <a:spcPts val="600"/>
              </a:spcAft>
            </a:pPr>
            <a:r>
              <a:rPr sz="1600" b="1" i="0">
                <a:solidFill>
                  <a:srgbClr val="C02034"/>
                </a:solidFill>
                <a:latin typeface="Segoe UI Semibold"/>
              </a:rPr>
              <a:t>Hưng Yên (Hồng Cầu) — điểm nóng cục bộ</a:t>
            </a:r>
          </a:p>
          <a:p>
            <a:pPr algn="l">
              <a:lnSpc>
                <a:spcPct val="110000"/>
              </a:lnSpc>
              <a:spcAft>
                <a:spcPts val="600"/>
              </a:spcAft>
            </a:pPr>
            <a:r>
              <a:rPr sz="1450" b="0" i="0">
                <a:solidFill>
                  <a:srgbClr val="1C2634"/>
                </a:solidFill>
                <a:latin typeface="Segoe UI"/>
              </a:rPr>
              <a:t>PM2.5 trung bình 76 µg/m³ (trạm cách 3,3 km chỉ 15,1) — mô hình dự đoán quá thấp.</a:t>
            </a:r>
          </a:p>
          <a:p>
            <a:pPr algn="l"/>
            <a:r>
              <a:rPr sz="1500" b="1" i="0">
                <a:solidFill>
                  <a:srgbClr val="C02034"/>
                </a:solidFill>
                <a:latin typeface="Segoe UI"/>
              </a:rPr>
              <a:t>độ lệch trung bình −42,9 µg/m³ · R² theo giờ = −0,256</a:t>
            </a:r>
          </a:p>
        </p:txBody>
      </p:sp>
      <p:sp>
        <p:nvSpPr>
          <p:cNvPr id="9" name="Rounded Rectangle 8"/>
          <p:cNvSpPr/>
          <p:nvPr/>
        </p:nvSpPr>
        <p:spPr>
          <a:xfrm>
            <a:off x="566928" y="4069080"/>
            <a:ext cx="11064240" cy="1554480"/>
          </a:xfrm>
          <a:prstGeom prst="roundRect">
            <a:avLst>
              <a:gd name="adj" fmla="val 10000"/>
            </a:avLst>
          </a:prstGeom>
          <a:solidFill>
            <a:srgbClr val="FC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66928" y="4069080"/>
            <a:ext cx="82296" cy="1554480"/>
          </a:xfrm>
          <a:prstGeom prst="roundRect">
            <a:avLst>
              <a:gd name="adj" fmla="val 50000"/>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2" y="4178808"/>
            <a:ext cx="10680192" cy="1353312"/>
          </a:xfrm>
          <a:prstGeom prst="rect">
            <a:avLst/>
          </a:prstGeom>
          <a:noFill/>
        </p:spPr>
        <p:txBody>
          <a:bodyPr wrap="square" lIns="0" tIns="0" rIns="0" bIns="0" anchor="ctr">
            <a:spAutoFit/>
          </a:bodyPr>
          <a:lstStyle/>
          <a:p>
            <a:pPr algn="l">
              <a:spcAft>
                <a:spcPts val="400"/>
              </a:spcAft>
            </a:pPr>
            <a:r>
              <a:rPr sz="1400" b="1" i="0">
                <a:solidFill>
                  <a:srgbClr val="C02034"/>
                </a:solidFill>
                <a:latin typeface="Segoe UI Semibold"/>
              </a:rPr>
              <a:t>Nhận định</a:t>
            </a:r>
          </a:p>
          <a:p>
            <a:pPr algn="l">
              <a:lnSpc>
                <a:spcPct val="108000"/>
              </a:lnSpc>
            </a:pPr>
            <a:r>
              <a:rPr sz="1700" b="0" i="0">
                <a:solidFill>
                  <a:srgbClr val="1C2634"/>
                </a:solidFill>
                <a:latin typeface="Segoe UI"/>
              </a:rPr>
              <a:t>Tại các vị trí có mức nền khác xa các trạm neo, mô hình có xu hướng thu hẹp các giá trị cực đoan và sai số tăng. Bản đồ cần kèm mức tin cậy theo khoảng cách và bối cảnh vị trí.</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5A5F69"/>
                </a:solidFill>
                <a:latin typeface="Segoe UI"/>
              </a:rPr>
              <a:t>22</a:t>
            </a:r>
          </a:p>
        </p:txBody>
      </p:sp>
      <p:sp>
        <p:nvSpPr>
          <p:cNvPr id="4" name="TextBox 3"/>
          <p:cNvSpPr txBox="1"/>
          <p:nvPr/>
        </p:nvSpPr>
        <p:spPr>
          <a:xfrm>
            <a:off x="566928" y="91440"/>
            <a:ext cx="11064240" cy="658368"/>
          </a:xfrm>
          <a:prstGeom prst="rect">
            <a:avLst/>
          </a:prstGeom>
          <a:noFill/>
        </p:spPr>
        <p:txBody>
          <a:bodyPr wrap="square" lIns="0" tIns="0" rIns="0" bIns="0" anchor="ctr">
            <a:spAutoFit/>
          </a:bodyPr>
          <a:lstStyle/>
          <a:p>
            <a:pPr algn="l"/>
            <a:r>
              <a:rPr sz="2500" b="1" i="0">
                <a:solidFill>
                  <a:srgbClr val="FFFFFF"/>
                </a:solidFill>
                <a:latin typeface="Segoe UI Semibold"/>
              </a:rPr>
              <a:t>Kết luận</a:t>
            </a:r>
          </a:p>
        </p:txBody>
      </p:sp>
      <p:sp>
        <p:nvSpPr>
          <p:cNvPr id="5" name="TextBox 4"/>
          <p:cNvSpPr txBox="1"/>
          <p:nvPr/>
        </p:nvSpPr>
        <p:spPr>
          <a:xfrm>
            <a:off x="640080" y="1188720"/>
            <a:ext cx="6766560" cy="365760"/>
          </a:xfrm>
          <a:prstGeom prst="rect">
            <a:avLst/>
          </a:prstGeom>
          <a:noFill/>
        </p:spPr>
        <p:txBody>
          <a:bodyPr wrap="square" lIns="0" tIns="0" rIns="0" bIns="0" anchor="t">
            <a:spAutoFit/>
          </a:bodyPr>
          <a:lstStyle/>
          <a:p>
            <a:pPr algn="l"/>
            <a:r>
              <a:rPr sz="1600" b="1" i="0">
                <a:solidFill>
                  <a:srgbClr val="C02034"/>
                </a:solidFill>
                <a:latin typeface="Segoe UI Semibold"/>
              </a:rPr>
              <a:t>Đóng góp</a:t>
            </a:r>
          </a:p>
        </p:txBody>
      </p:sp>
      <p:sp>
        <p:nvSpPr>
          <p:cNvPr id="6" name="TextBox 5"/>
          <p:cNvSpPr txBox="1"/>
          <p:nvPr/>
        </p:nvSpPr>
        <p:spPr>
          <a:xfrm>
            <a:off x="640080" y="1645920"/>
            <a:ext cx="6858000" cy="2194560"/>
          </a:xfrm>
          <a:prstGeom prst="rect">
            <a:avLst/>
          </a:prstGeom>
          <a:noFill/>
        </p:spPr>
        <p:txBody>
          <a:bodyPr wrap="square" lIns="0" tIns="0" rIns="0" bIns="0" anchor="t">
            <a:spAutoFit/>
          </a:bodyPr>
          <a:lstStyle/>
          <a:p>
            <a:pPr algn="l">
              <a:lnSpc>
                <a:spcPct val="105000"/>
              </a:lnSpc>
              <a:spcAft>
                <a:spcPts val="900"/>
              </a:spcAft>
            </a:pPr>
            <a:r>
              <a:rPr sz="1550" b="1" i="0">
                <a:solidFill>
                  <a:srgbClr val="C02034"/>
                </a:solidFill>
                <a:latin typeface="Segoe UI"/>
              </a:rPr>
              <a:t>▪  </a:t>
            </a:r>
            <a:r>
              <a:rPr sz="1550" b="0" i="0">
                <a:solidFill>
                  <a:srgbClr val="1C2634"/>
                </a:solidFill>
                <a:latin typeface="Segoe UI"/>
              </a:rPr>
              <a:t>Bộ dữ liệu PM2.5 đa nguồn đã làm sạch (QC cấp dòng).</a:t>
            </a:r>
          </a:p>
          <a:p>
            <a:pPr algn="l">
              <a:lnSpc>
                <a:spcPct val="105000"/>
              </a:lnSpc>
              <a:spcAft>
                <a:spcPts val="900"/>
              </a:spcAft>
            </a:pPr>
            <a:r>
              <a:rPr sz="1550" b="1" i="0">
                <a:solidFill>
                  <a:srgbClr val="C02034"/>
                </a:solidFill>
                <a:latin typeface="Segoe UI"/>
              </a:rPr>
              <a:t>▪  </a:t>
            </a:r>
            <a:r>
              <a:rPr sz="1550" b="0" i="0">
                <a:solidFill>
                  <a:srgbClr val="1C2634"/>
                </a:solidFill>
                <a:latin typeface="Segoe UI"/>
              </a:rPr>
              <a:t>Ước tính toàn quốc bằng LOSO: khó khăn cốt lõi là ước tính mức nền của vị trí mới.</a:t>
            </a:r>
          </a:p>
          <a:p>
            <a:pPr algn="l">
              <a:lnSpc>
                <a:spcPct val="105000"/>
              </a:lnSpc>
              <a:spcAft>
                <a:spcPts val="900"/>
              </a:spcAft>
            </a:pPr>
            <a:r>
              <a:rPr sz="1550" b="1" i="0">
                <a:solidFill>
                  <a:srgbClr val="C02034"/>
                </a:solidFill>
                <a:latin typeface="Segoe UI"/>
              </a:rPr>
              <a:t>▪  </a:t>
            </a:r>
            <a:r>
              <a:rPr sz="1550" b="0" i="0">
                <a:solidFill>
                  <a:srgbClr val="1C2634"/>
                </a:solidFill>
                <a:latin typeface="Segoe UI"/>
              </a:rPr>
              <a:t>Mô hình vùng ĐBSH kết hợp RFSI có xét khoảng cách và hướng gió.</a:t>
            </a:r>
          </a:p>
        </p:txBody>
      </p:sp>
      <p:sp>
        <p:nvSpPr>
          <p:cNvPr id="7" name="TextBox 6"/>
          <p:cNvSpPr txBox="1"/>
          <p:nvPr/>
        </p:nvSpPr>
        <p:spPr>
          <a:xfrm>
            <a:off x="640080" y="3840480"/>
            <a:ext cx="6766560" cy="365760"/>
          </a:xfrm>
          <a:prstGeom prst="rect">
            <a:avLst/>
          </a:prstGeom>
          <a:noFill/>
        </p:spPr>
        <p:txBody>
          <a:bodyPr wrap="square" lIns="0" tIns="0" rIns="0" bIns="0" anchor="t">
            <a:spAutoFit/>
          </a:bodyPr>
          <a:lstStyle/>
          <a:p>
            <a:pPr algn="l"/>
            <a:r>
              <a:rPr sz="1600" b="1" i="0">
                <a:solidFill>
                  <a:srgbClr val="C02034"/>
                </a:solidFill>
                <a:latin typeface="Segoe UI Semibold"/>
              </a:rPr>
              <a:t>Hướng phát triển</a:t>
            </a:r>
          </a:p>
        </p:txBody>
      </p:sp>
      <p:sp>
        <p:nvSpPr>
          <p:cNvPr id="8" name="TextBox 7"/>
          <p:cNvSpPr txBox="1"/>
          <p:nvPr/>
        </p:nvSpPr>
        <p:spPr>
          <a:xfrm>
            <a:off x="640080" y="4297680"/>
            <a:ext cx="6858000" cy="1828800"/>
          </a:xfrm>
          <a:prstGeom prst="rect">
            <a:avLst/>
          </a:prstGeom>
          <a:noFill/>
        </p:spPr>
        <p:txBody>
          <a:bodyPr wrap="square" lIns="0" tIns="0" rIns="0" bIns="0" anchor="t">
            <a:spAutoFit/>
          </a:bodyPr>
          <a:lstStyle/>
          <a:p>
            <a:pPr algn="l">
              <a:lnSpc>
                <a:spcPct val="105000"/>
              </a:lnSpc>
              <a:spcAft>
                <a:spcPts val="900"/>
              </a:spcAft>
            </a:pPr>
            <a:r>
              <a:rPr sz="1550" b="1" i="0">
                <a:solidFill>
                  <a:srgbClr val="C02034"/>
                </a:solidFill>
                <a:latin typeface="Segoe UI"/>
              </a:rPr>
              <a:t>▪  </a:t>
            </a:r>
            <a:r>
              <a:rPr sz="1550" b="0" i="0">
                <a:solidFill>
                  <a:srgbClr val="1C2634"/>
                </a:solidFill>
                <a:latin typeface="Segoe UI"/>
              </a:rPr>
              <a:t>Ước lượng độ tin cậy theo khoảng cách trạm neo, số trạm hoạt động và thời gian từ quan sát AOD gần nhất.</a:t>
            </a:r>
          </a:p>
          <a:p>
            <a:pPr algn="l">
              <a:lnSpc>
                <a:spcPct val="105000"/>
              </a:lnSpc>
              <a:spcAft>
                <a:spcPts val="900"/>
              </a:spcAft>
            </a:pPr>
            <a:r>
              <a:rPr sz="1550" b="1" i="0">
                <a:solidFill>
                  <a:srgbClr val="C02034"/>
                </a:solidFill>
                <a:latin typeface="Segoe UI"/>
              </a:rPr>
              <a:t>▪  </a:t>
            </a:r>
            <a:r>
              <a:rPr sz="1550" b="0" i="0">
                <a:solidFill>
                  <a:srgbClr val="1C2634"/>
                </a:solidFill>
                <a:latin typeface="Segoe UI"/>
              </a:rPr>
              <a:t>Bổ sung đo mặt đất độc lập; hiệu chỉnh LCS trước khi dùng làm trạm neo.</a:t>
            </a:r>
          </a:p>
          <a:p>
            <a:pPr algn="l">
              <a:lnSpc>
                <a:spcPct val="105000"/>
              </a:lnSpc>
              <a:spcAft>
                <a:spcPts val="900"/>
              </a:spcAft>
            </a:pPr>
            <a:r>
              <a:rPr sz="1550" b="1" i="0">
                <a:solidFill>
                  <a:srgbClr val="C02034"/>
                </a:solidFill>
                <a:latin typeface="Segoe UI"/>
              </a:rPr>
              <a:t>▪  </a:t>
            </a:r>
            <a:r>
              <a:rPr sz="1550" b="0" i="0">
                <a:solidFill>
                  <a:srgbClr val="1C2634"/>
                </a:solidFill>
                <a:latin typeface="Segoe UI"/>
              </a:rPr>
              <a:t>Tách riêng thành phần mức nền và đánh giá bằng LOSO không gian.</a:t>
            </a:r>
          </a:p>
        </p:txBody>
      </p:sp>
      <p:sp>
        <p:nvSpPr>
          <p:cNvPr id="9" name="Rounded Rectangle 8"/>
          <p:cNvSpPr/>
          <p:nvPr/>
        </p:nvSpPr>
        <p:spPr>
          <a:xfrm>
            <a:off x="7772400" y="1325880"/>
            <a:ext cx="3794760" cy="1078992"/>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772400" y="1325880"/>
            <a:ext cx="82296" cy="1078992"/>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73568" y="1453896"/>
            <a:ext cx="3483864" cy="859536"/>
          </a:xfrm>
          <a:prstGeom prst="rect">
            <a:avLst/>
          </a:prstGeom>
          <a:noFill/>
        </p:spPr>
        <p:txBody>
          <a:bodyPr wrap="square" lIns="0" tIns="0" rIns="0" bIns="0" anchor="ctr">
            <a:spAutoFit/>
          </a:bodyPr>
          <a:lstStyle/>
          <a:p>
            <a:pPr algn="l"/>
            <a:r>
              <a:rPr sz="2600" b="1" i="0">
                <a:solidFill>
                  <a:srgbClr val="003366"/>
                </a:solidFill>
                <a:latin typeface="Segoe UI Semibold"/>
              </a:rPr>
              <a:t>0,4220</a:t>
            </a:r>
          </a:p>
          <a:p>
            <a:pPr algn="l">
              <a:lnSpc>
                <a:spcPct val="100000"/>
              </a:lnSpc>
              <a:spcBef>
                <a:spcPts val="200"/>
              </a:spcBef>
            </a:pPr>
            <a:r>
              <a:rPr sz="1200" b="0" i="0">
                <a:solidFill>
                  <a:srgbClr val="5A5F69"/>
                </a:solidFill>
                <a:latin typeface="Segoe UI"/>
              </a:rPr>
              <a:t>R² gộp giờ — LOSO 12 trạm</a:t>
            </a:r>
          </a:p>
        </p:txBody>
      </p:sp>
      <p:sp>
        <p:nvSpPr>
          <p:cNvPr id="12" name="Rounded Rectangle 11"/>
          <p:cNvSpPr/>
          <p:nvPr/>
        </p:nvSpPr>
        <p:spPr>
          <a:xfrm>
            <a:off x="7772400" y="2542032"/>
            <a:ext cx="3794760" cy="1078992"/>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772400" y="2542032"/>
            <a:ext cx="82296" cy="1078992"/>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73568" y="2670048"/>
            <a:ext cx="3483864" cy="859536"/>
          </a:xfrm>
          <a:prstGeom prst="rect">
            <a:avLst/>
          </a:prstGeom>
          <a:noFill/>
        </p:spPr>
        <p:txBody>
          <a:bodyPr wrap="square" lIns="0" tIns="0" rIns="0" bIns="0" anchor="ctr">
            <a:spAutoFit/>
          </a:bodyPr>
          <a:lstStyle/>
          <a:p>
            <a:pPr algn="l"/>
            <a:r>
              <a:rPr sz="2600" b="1" i="0">
                <a:solidFill>
                  <a:srgbClr val="003366"/>
                </a:solidFill>
                <a:latin typeface="Segoe UI Semibold"/>
              </a:rPr>
              <a:t>0,627</a:t>
            </a:r>
          </a:p>
          <a:p>
            <a:pPr algn="l">
              <a:lnSpc>
                <a:spcPct val="100000"/>
              </a:lnSpc>
              <a:spcBef>
                <a:spcPts val="200"/>
              </a:spcBef>
            </a:pPr>
            <a:r>
              <a:rPr sz="1200" b="0" i="0">
                <a:solidFill>
                  <a:srgbClr val="5A5F69"/>
                </a:solidFill>
                <a:latin typeface="Segoe UI"/>
              </a:rPr>
              <a:t>R² giờ — Đại sứ quán Hoa Kỳ</a:t>
            </a:r>
          </a:p>
        </p:txBody>
      </p:sp>
      <p:sp>
        <p:nvSpPr>
          <p:cNvPr id="15" name="Rounded Rectangle 14"/>
          <p:cNvSpPr/>
          <p:nvPr/>
        </p:nvSpPr>
        <p:spPr>
          <a:xfrm>
            <a:off x="7772400" y="3758184"/>
            <a:ext cx="3794760" cy="1078992"/>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772400" y="3758184"/>
            <a:ext cx="82296" cy="1078992"/>
          </a:xfrm>
          <a:prstGeom prst="roundRect">
            <a:avLst>
              <a:gd name="adj" fmla="val 50000"/>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73568" y="3886200"/>
            <a:ext cx="3483864" cy="859536"/>
          </a:xfrm>
          <a:prstGeom prst="rect">
            <a:avLst/>
          </a:prstGeom>
          <a:noFill/>
        </p:spPr>
        <p:txBody>
          <a:bodyPr wrap="square" lIns="0" tIns="0" rIns="0" bIns="0" anchor="ctr">
            <a:spAutoFit/>
          </a:bodyPr>
          <a:lstStyle/>
          <a:p>
            <a:pPr algn="l"/>
            <a:r>
              <a:rPr sz="2600" b="1" i="0">
                <a:solidFill>
                  <a:srgbClr val="C02034"/>
                </a:solidFill>
                <a:latin typeface="Segoe UI Semibold"/>
              </a:rPr>
              <a:t>69,5%</a:t>
            </a:r>
          </a:p>
          <a:p>
            <a:pPr algn="l">
              <a:lnSpc>
                <a:spcPct val="100000"/>
              </a:lnSpc>
              <a:spcBef>
                <a:spcPts val="200"/>
              </a:spcBef>
            </a:pPr>
            <a:r>
              <a:rPr sz="1200" b="0" i="0">
                <a:solidFill>
                  <a:srgbClr val="5A5F69"/>
                </a:solidFill>
                <a:latin typeface="Segoe UI"/>
              </a:rPr>
              <a:t>mức đóng góp từ trạm neo / RFSI</a:t>
            </a:r>
          </a:p>
        </p:txBody>
      </p:sp>
      <p:sp>
        <p:nvSpPr>
          <p:cNvPr id="18" name="Rounded Rectangle 17"/>
          <p:cNvSpPr/>
          <p:nvPr/>
        </p:nvSpPr>
        <p:spPr>
          <a:xfrm>
            <a:off x="7772400" y="4974336"/>
            <a:ext cx="3794760" cy="1078992"/>
          </a:xfrm>
          <a:prstGeom prst="roundRect">
            <a:avLst>
              <a:gd name="adj" fmla="val 1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772400" y="4974336"/>
            <a:ext cx="82296" cy="1078992"/>
          </a:xfrm>
          <a:prstGeom prst="roundRect">
            <a:avLst>
              <a:gd name="adj" fmla="val 50000"/>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73568" y="5102352"/>
            <a:ext cx="3483864" cy="859536"/>
          </a:xfrm>
          <a:prstGeom prst="rect">
            <a:avLst/>
          </a:prstGeom>
          <a:noFill/>
        </p:spPr>
        <p:txBody>
          <a:bodyPr wrap="square" lIns="0" tIns="0" rIns="0" bIns="0" anchor="ctr">
            <a:spAutoFit/>
          </a:bodyPr>
          <a:lstStyle/>
          <a:p>
            <a:pPr algn="l"/>
            <a:r>
              <a:rPr sz="2600" b="1" i="0">
                <a:solidFill>
                  <a:srgbClr val="C02034"/>
                </a:solidFill>
                <a:latin typeface="Segoe UI Semibold"/>
              </a:rPr>
              <a:t>12 trạm</a:t>
            </a:r>
          </a:p>
          <a:p>
            <a:pPr algn="l">
              <a:lnSpc>
                <a:spcPct val="100000"/>
              </a:lnSpc>
              <a:spcBef>
                <a:spcPts val="200"/>
              </a:spcBef>
            </a:pPr>
            <a:r>
              <a:rPr sz="1200" b="0" i="0">
                <a:solidFill>
                  <a:srgbClr val="5A5F69"/>
                </a:solidFill>
                <a:latin typeface="Segoe UI"/>
              </a:rPr>
              <a:t>phạm vi vùng ĐBSH</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nav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96AAC3"/>
                </a:solidFill>
                <a:latin typeface="Segoe UI"/>
              </a:rPr>
              <a:t>23</a:t>
            </a:r>
          </a:p>
        </p:txBody>
      </p:sp>
      <p:pic>
        <p:nvPicPr>
          <p:cNvPr id="4" name="Picture 3" descr="logo_white.png"/>
          <p:cNvPicPr>
            <a:picLocks noChangeAspect="1"/>
          </p:cNvPicPr>
          <p:nvPr/>
        </p:nvPicPr>
        <p:blipFill>
          <a:blip r:embed="rId3"/>
          <a:stretch>
            <a:fillRect/>
          </a:stretch>
        </p:blipFill>
        <p:spPr>
          <a:xfrm>
            <a:off x="4453128" y="1051560"/>
            <a:ext cx="3291840" cy="1293223"/>
          </a:xfrm>
          <a:prstGeom prst="rect">
            <a:avLst/>
          </a:prstGeom>
        </p:spPr>
      </p:pic>
      <p:cxnSp>
        <p:nvCxnSpPr>
          <p:cNvPr id="5" name="Connector 4"/>
          <p:cNvCxnSpPr/>
          <p:nvPr/>
        </p:nvCxnSpPr>
        <p:spPr>
          <a:xfrm>
            <a:off x="4818888" y="2286000"/>
            <a:ext cx="2560320" cy="0"/>
          </a:xfrm>
          <a:prstGeom prst="bentConnector3">
            <a:avLst/>
          </a:prstGeom>
          <a:ln w="31750">
            <a:solidFill>
              <a:srgbClr val="C0203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14400" y="2926080"/>
            <a:ext cx="10360152" cy="914400"/>
          </a:xfrm>
          <a:prstGeom prst="rect">
            <a:avLst/>
          </a:prstGeom>
          <a:noFill/>
        </p:spPr>
        <p:txBody>
          <a:bodyPr wrap="square" lIns="0" tIns="0" rIns="0" bIns="0" anchor="ctr">
            <a:spAutoFit/>
          </a:bodyPr>
          <a:lstStyle/>
          <a:p>
            <a:pPr algn="ctr"/>
            <a:r>
              <a:rPr sz="3200" b="1" i="0">
                <a:solidFill>
                  <a:srgbClr val="FFFFFF"/>
                </a:solidFill>
                <a:latin typeface="Segoe UI Semibold"/>
              </a:rPr>
              <a:t>Xin cảm ơn Quý Thầy/Cô đã lắng nghe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nav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231575" y="6455664"/>
            <a:ext cx="731520" cy="274320"/>
          </a:xfrm>
          <a:prstGeom prst="rect">
            <a:avLst/>
          </a:prstGeom>
          <a:noFill/>
        </p:spPr>
        <p:txBody>
          <a:bodyPr wrap="square" lIns="0" tIns="0" rIns="0" bIns="0" anchor="ctr">
            <a:spAutoFit/>
          </a:bodyPr>
          <a:lstStyle/>
          <a:p>
            <a:pPr algn="r"/>
            <a:r>
              <a:rPr sz="1100" b="0" i="0">
                <a:solidFill>
                  <a:srgbClr val="96AAC3"/>
                </a:solidFill>
                <a:latin typeface="Segoe UI"/>
              </a:rPr>
              <a:t>24</a:t>
            </a:r>
          </a:p>
        </p:txBody>
      </p:sp>
      <p:pic>
        <p:nvPicPr>
          <p:cNvPr id="4" name="Picture 3" descr="logo_white.png"/>
          <p:cNvPicPr>
            <a:picLocks noChangeAspect="1"/>
          </p:cNvPicPr>
          <p:nvPr/>
        </p:nvPicPr>
        <p:blipFill>
          <a:blip r:embed="rId3"/>
          <a:stretch>
            <a:fillRect/>
          </a:stretch>
        </p:blipFill>
        <p:spPr>
          <a:xfrm>
            <a:off x="4453128" y="868680"/>
            <a:ext cx="3291840" cy="1293223"/>
          </a:xfrm>
          <a:prstGeom prst="rect">
            <a:avLst/>
          </a:prstGeom>
        </p:spPr>
      </p:pic>
      <p:cxnSp>
        <p:nvCxnSpPr>
          <p:cNvPr id="5" name="Connector 4"/>
          <p:cNvCxnSpPr/>
          <p:nvPr/>
        </p:nvCxnSpPr>
        <p:spPr>
          <a:xfrm>
            <a:off x="4818888" y="2103120"/>
            <a:ext cx="2560320" cy="0"/>
          </a:xfrm>
          <a:prstGeom prst="bentConnector3">
            <a:avLst/>
          </a:prstGeom>
          <a:ln w="31750">
            <a:solidFill>
              <a:srgbClr val="C0203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14400" y="2743200"/>
            <a:ext cx="10360152" cy="960120"/>
          </a:xfrm>
          <a:prstGeom prst="rect">
            <a:avLst/>
          </a:prstGeom>
          <a:noFill/>
        </p:spPr>
        <p:txBody>
          <a:bodyPr wrap="square" lIns="0" tIns="0" rIns="0" bIns="0" anchor="ctr">
            <a:spAutoFit/>
          </a:bodyPr>
          <a:lstStyle/>
          <a:p>
            <a:pPr algn="ctr"/>
            <a:r>
              <a:rPr sz="5000" b="1" i="0">
                <a:solidFill>
                  <a:srgbClr val="FFFFFF"/>
                </a:solidFill>
                <a:latin typeface="Segoe UI Semibold"/>
              </a:rPr>
              <a:t>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CB19AD86CDF2D4DBF9DAD694EFBC09D" ma:contentTypeVersion="7" ma:contentTypeDescription="Create a new document." ma:contentTypeScope="" ma:versionID="6423fc3df46fff0625ec86a02e55459f">
  <xsd:schema xmlns:xsd="http://www.w3.org/2001/XMLSchema" xmlns:xs="http://www.w3.org/2001/XMLSchema" xmlns:p="http://schemas.microsoft.com/office/2006/metadata/properties" xmlns:ns2="757826ba-dfa3-48aa-98b2-1e988427fee5" xmlns:ns3="e4770848-7955-4ec6-9f06-ace3904740ab" targetNamespace="http://schemas.microsoft.com/office/2006/metadata/properties" ma:root="true" ma:fieldsID="24cf96f43bac35fd0bad3b1a63bec25f" ns2:_="" ns3:_="">
    <xsd:import namespace="757826ba-dfa3-48aa-98b2-1e988427fee5"/>
    <xsd:import namespace="e4770848-7955-4ec6-9f06-ace3904740ab"/>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7826ba-dfa3-48aa-98b2-1e988427fe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4770848-7955-4ec6-9f06-ace3904740ab"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BC316FA-151E-4EDB-9E09-98DAB3D0971A}">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698E78E3-0A98-4D61-9B64-F38933067C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7826ba-dfa3-48aa-98b2-1e988427fee5"/>
    <ds:schemaRef ds:uri="e4770848-7955-4ec6-9f06-ace3904740a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C34D971-5E4A-4DCB-9925-F7DA6878D48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85</TotalTime>
  <Words>2606</Words>
  <Application>Microsoft Office PowerPoint</Application>
  <PresentationFormat>Widescreen</PresentationFormat>
  <Paragraphs>262</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Lato</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Tai Khoa Nguyen</cp:lastModifiedBy>
  <cp:revision>11</cp:revision>
  <dcterms:created xsi:type="dcterms:W3CDTF">2021-05-28T04:32:29Z</dcterms:created>
  <dcterms:modified xsi:type="dcterms:W3CDTF">2026-07-11T09:37:10Z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0x010100ECB19AD86CDF2D4DBF9DAD694EFBC09D</vt:lpwstr>
  </property>
</Properties>
</file>